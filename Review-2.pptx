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7" r:id="rId2"/>
    <p:sldId id="278" r:id="rId3"/>
    <p:sldId id="259" r:id="rId4"/>
    <p:sldId id="260" r:id="rId5"/>
    <p:sldId id="270" r:id="rId6"/>
    <p:sldId id="271" r:id="rId7"/>
    <p:sldId id="273" r:id="rId8"/>
    <p:sldId id="261" r:id="rId9"/>
    <p:sldId id="274" r:id="rId10"/>
    <p:sldId id="262" r:id="rId11"/>
    <p:sldId id="275" r:id="rId12"/>
    <p:sldId id="27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8" r:id="rId24"/>
    <p:sldId id="299" r:id="rId25"/>
    <p:sldId id="300" r:id="rId26"/>
    <p:sldId id="301" r:id="rId27"/>
    <p:sldId id="263" r:id="rId28"/>
    <p:sldId id="279" r:id="rId29"/>
    <p:sldId id="280" r:id="rId30"/>
    <p:sldId id="282" r:id="rId31"/>
    <p:sldId id="281" r:id="rId32"/>
    <p:sldId id="283" r:id="rId33"/>
    <p:sldId id="264" r:id="rId34"/>
    <p:sldId id="284" r:id="rId35"/>
    <p:sldId id="285" r:id="rId36"/>
    <p:sldId id="286" r:id="rId37"/>
    <p:sldId id="269" r:id="rId38"/>
    <p:sldId id="265" r:id="rId39"/>
    <p:sldId id="277" r:id="rId40"/>
    <p:sldId id="266" r:id="rId41"/>
    <p:sldId id="267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7281F9-86A4-4C86-AB59-749122E7FA01}" v="12" dt="2026-09-29T14:26:20.3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prakash Jayaraman" userId="dd338782e1e5ed99" providerId="LiveId" clId="{62A881A7-8E93-4AEA-A495-31D1DCEAD307}"/>
    <pc:docChg chg="undo custSel addSld modSld">
      <pc:chgData name="Jayaprakash Jayaraman" userId="dd338782e1e5ed99" providerId="LiveId" clId="{62A881A7-8E93-4AEA-A495-31D1DCEAD307}" dt="2026-09-29T14:31:22.530" v="45" actId="478"/>
      <pc:docMkLst>
        <pc:docMk/>
      </pc:docMkLst>
      <pc:sldChg chg="addSp delSp modSp mod">
        <pc:chgData name="Jayaprakash Jayaraman" userId="dd338782e1e5ed99" providerId="LiveId" clId="{62A881A7-8E93-4AEA-A495-31D1DCEAD307}" dt="2026-09-29T14:25:17.236" v="19"/>
        <pc:sldMkLst>
          <pc:docMk/>
          <pc:sldMk cId="0" sldId="260"/>
        </pc:sldMkLst>
        <pc:graphicFrameChg chg="del">
          <ac:chgData name="Jayaprakash Jayaraman" userId="dd338782e1e5ed99" providerId="LiveId" clId="{62A881A7-8E93-4AEA-A495-31D1DCEAD307}" dt="2026-09-29T14:23:47.995" v="0" actId="478"/>
          <ac:graphicFrameMkLst>
            <pc:docMk/>
            <pc:sldMk cId="0" sldId="260"/>
            <ac:graphicFrameMk id="6" creationId="{00000000-0000-0000-0000-000000000000}"/>
          </ac:graphicFrameMkLst>
        </pc:graphicFrameChg>
        <pc:graphicFrameChg chg="add mod modGraphic">
          <ac:chgData name="Jayaprakash Jayaraman" userId="dd338782e1e5ed99" providerId="LiveId" clId="{62A881A7-8E93-4AEA-A495-31D1DCEAD307}" dt="2026-09-29T14:25:17.236" v="19"/>
          <ac:graphicFrameMkLst>
            <pc:docMk/>
            <pc:sldMk cId="0" sldId="260"/>
            <ac:graphicFrameMk id="8" creationId="{0CB97CA5-D53E-6810-94EB-F97AD3AC885E}"/>
          </ac:graphicFrameMkLst>
        </pc:graphicFrameChg>
      </pc:sldChg>
      <pc:sldChg chg="addSp delSp modSp add mod">
        <pc:chgData name="Jayaprakash Jayaraman" userId="dd338782e1e5ed99" providerId="LiveId" clId="{62A881A7-8E93-4AEA-A495-31D1DCEAD307}" dt="2026-09-29T14:26:35.279" v="39" actId="478"/>
        <pc:sldMkLst>
          <pc:docMk/>
          <pc:sldMk cId="2753431530" sldId="270"/>
        </pc:sldMkLst>
        <pc:spChg chg="del mod">
          <ac:chgData name="Jayaprakash Jayaraman" userId="dd338782e1e5ed99" providerId="LiveId" clId="{62A881A7-8E93-4AEA-A495-31D1DCEAD307}" dt="2026-09-29T14:26:35.279" v="39" actId="478"/>
          <ac:spMkLst>
            <pc:docMk/>
            <pc:sldMk cId="2753431530" sldId="270"/>
            <ac:spMk id="5" creationId="{EA4A37B5-B168-3CCC-746E-71C8A511329B}"/>
          </ac:spMkLst>
        </pc:spChg>
        <pc:graphicFrameChg chg="add del mod modGraphic">
          <ac:chgData name="Jayaprakash Jayaraman" userId="dd338782e1e5ed99" providerId="LiveId" clId="{62A881A7-8E93-4AEA-A495-31D1DCEAD307}" dt="2026-09-29T14:25:43.736" v="23" actId="478"/>
          <ac:graphicFrameMkLst>
            <pc:docMk/>
            <pc:sldMk cId="2753431530" sldId="270"/>
            <ac:graphicFrameMk id="7" creationId="{558A8F79-B129-5EE3-997A-5C273A374EB1}"/>
          </ac:graphicFrameMkLst>
        </pc:graphicFrameChg>
        <pc:graphicFrameChg chg="del modGraphic">
          <ac:chgData name="Jayaprakash Jayaraman" userId="dd338782e1e5ed99" providerId="LiveId" clId="{62A881A7-8E93-4AEA-A495-31D1DCEAD307}" dt="2026-09-29T14:24:08.090" v="5" actId="478"/>
          <ac:graphicFrameMkLst>
            <pc:docMk/>
            <pc:sldMk cId="2753431530" sldId="270"/>
            <ac:graphicFrameMk id="8" creationId="{B9F98428-C87B-89C0-EF26-EF60D7380F59}"/>
          </ac:graphicFrameMkLst>
        </pc:graphicFrameChg>
        <pc:graphicFrameChg chg="add mod modGraphic">
          <ac:chgData name="Jayaprakash Jayaraman" userId="dd338782e1e5ed99" providerId="LiveId" clId="{62A881A7-8E93-4AEA-A495-31D1DCEAD307}" dt="2026-09-29T14:26:30.511" v="37" actId="1076"/>
          <ac:graphicFrameMkLst>
            <pc:docMk/>
            <pc:sldMk cId="2753431530" sldId="270"/>
            <ac:graphicFrameMk id="10" creationId="{A8369902-E463-8DE0-C7BC-DE034E4A32AF}"/>
          </ac:graphicFrameMkLst>
        </pc:graphicFrameChg>
      </pc:sldChg>
      <pc:sldChg chg="addSp delSp modSp add mod">
        <pc:chgData name="Jayaprakash Jayaraman" userId="dd338782e1e5ed99" providerId="LiveId" clId="{62A881A7-8E93-4AEA-A495-31D1DCEAD307}" dt="2026-09-29T14:26:24.270" v="36" actId="478"/>
        <pc:sldMkLst>
          <pc:docMk/>
          <pc:sldMk cId="829757341" sldId="271"/>
        </pc:sldMkLst>
        <pc:spChg chg="del mod">
          <ac:chgData name="Jayaprakash Jayaraman" userId="dd338782e1e5ed99" providerId="LiveId" clId="{62A881A7-8E93-4AEA-A495-31D1DCEAD307}" dt="2026-09-29T14:26:24.270" v="36" actId="478"/>
          <ac:spMkLst>
            <pc:docMk/>
            <pc:sldMk cId="829757341" sldId="271"/>
            <ac:spMk id="5" creationId="{08BD7786-0D9A-C588-22DC-1EE0F7D11391}"/>
          </ac:spMkLst>
        </pc:spChg>
        <pc:graphicFrameChg chg="del">
          <ac:chgData name="Jayaprakash Jayaraman" userId="dd338782e1e5ed99" providerId="LiveId" clId="{62A881A7-8E93-4AEA-A495-31D1DCEAD307}" dt="2026-09-29T14:24:21.900" v="8" actId="478"/>
          <ac:graphicFrameMkLst>
            <pc:docMk/>
            <pc:sldMk cId="829757341" sldId="271"/>
            <ac:graphicFrameMk id="7" creationId="{4F842D85-17E4-E566-1FB8-53EC873AFDA5}"/>
          </ac:graphicFrameMkLst>
        </pc:graphicFrameChg>
        <pc:graphicFrameChg chg="add del mod">
          <ac:chgData name="Jayaprakash Jayaraman" userId="dd338782e1e5ed99" providerId="LiveId" clId="{62A881A7-8E93-4AEA-A495-31D1DCEAD307}" dt="2026-09-29T14:25:56.585" v="28" actId="478"/>
          <ac:graphicFrameMkLst>
            <pc:docMk/>
            <pc:sldMk cId="829757341" sldId="271"/>
            <ac:graphicFrameMk id="8" creationId="{841CD49B-53BF-BB5F-23B0-017E08D9C45C}"/>
          </ac:graphicFrameMkLst>
        </pc:graphicFrameChg>
        <pc:graphicFrameChg chg="add del mod">
          <ac:chgData name="Jayaprakash Jayaraman" userId="dd338782e1e5ed99" providerId="LiveId" clId="{62A881A7-8E93-4AEA-A495-31D1DCEAD307}" dt="2026-09-29T14:26:15.041" v="31" actId="478"/>
          <ac:graphicFrameMkLst>
            <pc:docMk/>
            <pc:sldMk cId="829757341" sldId="271"/>
            <ac:graphicFrameMk id="10" creationId="{8451908F-EBA6-EB82-1CE1-1BE5E1AA6C03}"/>
          </ac:graphicFrameMkLst>
        </pc:graphicFrameChg>
        <pc:graphicFrameChg chg="add mod">
          <ac:chgData name="Jayaprakash Jayaraman" userId="dd338782e1e5ed99" providerId="LiveId" clId="{62A881A7-8E93-4AEA-A495-31D1DCEAD307}" dt="2026-09-29T14:26:20.382" v="34"/>
          <ac:graphicFrameMkLst>
            <pc:docMk/>
            <pc:sldMk cId="829757341" sldId="271"/>
            <ac:graphicFrameMk id="12" creationId="{986310FD-3660-DADF-8150-47EF7504A4D7}"/>
          </ac:graphicFrameMkLst>
        </pc:graphicFrameChg>
      </pc:sldChg>
      <pc:sldChg chg="new">
        <pc:chgData name="Jayaprakash Jayaraman" userId="dd338782e1e5ed99" providerId="LiveId" clId="{62A881A7-8E93-4AEA-A495-31D1DCEAD307}" dt="2026-09-29T14:31:03.012" v="40" actId="680"/>
        <pc:sldMkLst>
          <pc:docMk/>
          <pc:sldMk cId="3660672453" sldId="272"/>
        </pc:sldMkLst>
      </pc:sldChg>
      <pc:sldChg chg="addSp delSp add mod">
        <pc:chgData name="Jayaprakash Jayaraman" userId="dd338782e1e5ed99" providerId="LiveId" clId="{62A881A7-8E93-4AEA-A495-31D1DCEAD307}" dt="2026-09-29T14:31:22.530" v="45" actId="478"/>
        <pc:sldMkLst>
          <pc:docMk/>
          <pc:sldMk cId="1460966657" sldId="273"/>
        </pc:sldMkLst>
        <pc:spChg chg="del">
          <ac:chgData name="Jayaprakash Jayaraman" userId="dd338782e1e5ed99" providerId="LiveId" clId="{62A881A7-8E93-4AEA-A495-31D1DCEAD307}" dt="2026-09-29T14:31:18.929" v="43" actId="478"/>
          <ac:spMkLst>
            <pc:docMk/>
            <pc:sldMk cId="1460966657" sldId="273"/>
            <ac:spMk id="3" creationId="{3F543446-DCC7-D894-F853-E4188622209E}"/>
          </ac:spMkLst>
        </pc:spChg>
        <pc:spChg chg="add">
          <ac:chgData name="Jayaprakash Jayaraman" userId="dd338782e1e5ed99" providerId="LiveId" clId="{62A881A7-8E93-4AEA-A495-31D1DCEAD307}" dt="2026-09-29T14:31:20.166" v="44" actId="22"/>
          <ac:spMkLst>
            <pc:docMk/>
            <pc:sldMk cId="1460966657" sldId="273"/>
            <ac:spMk id="6" creationId="{CC2CF0A6-6D68-B7AE-68CB-4E5A80F1DEC0}"/>
          </ac:spMkLst>
        </pc:spChg>
        <pc:spChg chg="add">
          <ac:chgData name="Jayaprakash Jayaraman" userId="dd338782e1e5ed99" providerId="LiveId" clId="{62A881A7-8E93-4AEA-A495-31D1DCEAD307}" dt="2026-09-29T14:31:20.166" v="44" actId="22"/>
          <ac:spMkLst>
            <pc:docMk/>
            <pc:sldMk cId="1460966657" sldId="273"/>
            <ac:spMk id="13" creationId="{B8CBB4BA-8EC1-5CCC-D11E-566D6159957B}"/>
          </ac:spMkLst>
        </pc:spChg>
        <pc:spChg chg="add">
          <ac:chgData name="Jayaprakash Jayaraman" userId="dd338782e1e5ed99" providerId="LiveId" clId="{62A881A7-8E93-4AEA-A495-31D1DCEAD307}" dt="2026-09-29T14:31:20.166" v="44" actId="22"/>
          <ac:spMkLst>
            <pc:docMk/>
            <pc:sldMk cId="1460966657" sldId="273"/>
            <ac:spMk id="15" creationId="{7A3B0FEA-4CBF-B1E4-D17F-0F658CC80335}"/>
          </ac:spMkLst>
        </pc:spChg>
        <pc:spChg chg="add">
          <ac:chgData name="Jayaprakash Jayaraman" userId="dd338782e1e5ed99" providerId="LiveId" clId="{62A881A7-8E93-4AEA-A495-31D1DCEAD307}" dt="2026-09-29T14:31:20.166" v="44" actId="22"/>
          <ac:spMkLst>
            <pc:docMk/>
            <pc:sldMk cId="1460966657" sldId="273"/>
            <ac:spMk id="17" creationId="{0C6A423A-B77E-7DAF-D22B-1FBC1BDEA038}"/>
          </ac:spMkLst>
        </pc:spChg>
        <pc:spChg chg="add">
          <ac:chgData name="Jayaprakash Jayaraman" userId="dd338782e1e5ed99" providerId="LiveId" clId="{62A881A7-8E93-4AEA-A495-31D1DCEAD307}" dt="2026-09-29T14:31:20.166" v="44" actId="22"/>
          <ac:spMkLst>
            <pc:docMk/>
            <pc:sldMk cId="1460966657" sldId="273"/>
            <ac:spMk id="19" creationId="{0589E4AC-D853-2B6A-F9A8-9EB12865D67D}"/>
          </ac:spMkLst>
        </pc:spChg>
        <pc:spChg chg="add">
          <ac:chgData name="Jayaprakash Jayaraman" userId="dd338782e1e5ed99" providerId="LiveId" clId="{62A881A7-8E93-4AEA-A495-31D1DCEAD307}" dt="2026-09-29T14:31:20.166" v="44" actId="22"/>
          <ac:spMkLst>
            <pc:docMk/>
            <pc:sldMk cId="1460966657" sldId="273"/>
            <ac:spMk id="21" creationId="{51A8878F-C748-939D-F18E-5F01935D86FF}"/>
          </ac:spMkLst>
        </pc:spChg>
        <pc:spChg chg="add">
          <ac:chgData name="Jayaprakash Jayaraman" userId="dd338782e1e5ed99" providerId="LiveId" clId="{62A881A7-8E93-4AEA-A495-31D1DCEAD307}" dt="2026-09-29T14:31:20.166" v="44" actId="22"/>
          <ac:spMkLst>
            <pc:docMk/>
            <pc:sldMk cId="1460966657" sldId="273"/>
            <ac:spMk id="23" creationId="{3B6FC506-0142-ED4B-5B22-B94D7C19FAC6}"/>
          </ac:spMkLst>
        </pc:spChg>
        <pc:spChg chg="add">
          <ac:chgData name="Jayaprakash Jayaraman" userId="dd338782e1e5ed99" providerId="LiveId" clId="{62A881A7-8E93-4AEA-A495-31D1DCEAD307}" dt="2026-09-29T14:31:20.166" v="44" actId="22"/>
          <ac:spMkLst>
            <pc:docMk/>
            <pc:sldMk cId="1460966657" sldId="273"/>
            <ac:spMk id="25" creationId="{4FAD306F-E026-548D-B4CE-9AF19EEF0A21}"/>
          </ac:spMkLst>
        </pc:spChg>
        <pc:spChg chg="add">
          <ac:chgData name="Jayaprakash Jayaraman" userId="dd338782e1e5ed99" providerId="LiveId" clId="{62A881A7-8E93-4AEA-A495-31D1DCEAD307}" dt="2026-09-29T14:31:20.166" v="44" actId="22"/>
          <ac:spMkLst>
            <pc:docMk/>
            <pc:sldMk cId="1460966657" sldId="273"/>
            <ac:spMk id="27" creationId="{D74A3A65-7CD3-9FFA-F2F1-577788477592}"/>
          </ac:spMkLst>
        </pc:spChg>
        <pc:spChg chg="add">
          <ac:chgData name="Jayaprakash Jayaraman" userId="dd338782e1e5ed99" providerId="LiveId" clId="{62A881A7-8E93-4AEA-A495-31D1DCEAD307}" dt="2026-09-29T14:31:20.166" v="44" actId="22"/>
          <ac:spMkLst>
            <pc:docMk/>
            <pc:sldMk cId="1460966657" sldId="273"/>
            <ac:spMk id="29" creationId="{ABACDD27-60C2-AF4F-EEB3-1E21D6F69A8B}"/>
          </ac:spMkLst>
        </pc:spChg>
        <pc:graphicFrameChg chg="del">
          <ac:chgData name="Jayaprakash Jayaraman" userId="dd338782e1e5ed99" providerId="LiveId" clId="{62A881A7-8E93-4AEA-A495-31D1DCEAD307}" dt="2026-09-29T14:31:17.966" v="42" actId="478"/>
          <ac:graphicFrameMkLst>
            <pc:docMk/>
            <pc:sldMk cId="1460966657" sldId="273"/>
            <ac:graphicFrameMk id="12" creationId="{EECF748D-CBB1-587D-AE01-E2C3E842A09C}"/>
          </ac:graphicFrameMkLst>
        </pc:graphicFrameChg>
        <pc:picChg chg="del">
          <ac:chgData name="Jayaprakash Jayaraman" userId="dd338782e1e5ed99" providerId="LiveId" clId="{62A881A7-8E93-4AEA-A495-31D1DCEAD307}" dt="2026-09-29T14:31:22.530" v="45" actId="478"/>
          <ac:picMkLst>
            <pc:docMk/>
            <pc:sldMk cId="1460966657" sldId="273"/>
            <ac:picMk id="8" creationId="{FFD5829C-9CC2-F8F3-0A71-E478182A157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012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B20E1-F4BF-FA9A-49FF-77C4BB411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BD0C73-1599-DB55-B9E6-850C11FA4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2FC07-F659-D662-DF03-370370CA90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1A888-E013-3A70-800B-DA6610DAA4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24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69D69-04CB-1337-0738-70C7010E8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6C5F00-DFFE-193B-616F-494509DF0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1F8ED2-8436-45B9-206B-19497E605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476A1-65E4-F5B2-96E8-BE9948116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283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4CBAD-E94A-3A7A-C3A3-8C0FBBF7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515C9-19EF-4E43-0384-054CC6EC9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F0ABB3-490B-5021-9E00-B650CF94F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AD509-E032-90B1-C8AB-C6BE85BDD7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33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CADB-3192-66F1-5606-CC19EEB99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2B563-150F-6A81-C3C9-EB6774B19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FDD9D5-4C37-3ADD-A5BB-A29C2B245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E8080-0126-FCC0-4BE7-8D60497046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48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your architecture / block diagram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E4225-5205-B70E-6D19-67B16B574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1FD5AA-E78B-9D80-33D2-CE448525F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63A47E-F115-066E-B32E-BB2517F12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978A9-54EE-6158-DFA3-F0AC078B07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414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B869A-A000-4FDB-263A-F11A2BF70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A2947-44F6-C5C5-366F-9FC69853F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2CA09F-D3FD-BC13-0D1C-966810828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8FD38-0F39-A51D-DDD1-9C6B4B037B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9541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9DF1E-BD65-5EB2-FCDE-4328D0B01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6F1AB4-52BA-87BD-768B-930365424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3BC02-2D34-9D2E-249E-3614AFB34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2E5ED-C33F-AEC3-EC60-ADE4F404FA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189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12BA7-D5EF-21A0-D6FC-826EA0CE2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73C46F-4812-C0B3-27E2-679E3511A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2C39-EFC0-0050-CD72-6EE43BBEB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7D4D3-A1B0-96CD-A1D9-03F2EFB7EC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8428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6A308-178A-75B1-CF96-E346FF7D7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2A2F13-538D-D7B3-B032-02F82CB18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96036B-F236-EC41-3948-FCEFA88DD6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9BEA5-7733-4F0D-FF53-8071260AA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567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F24E1-A9FC-7FA3-F79B-C6D9930B0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7EF829-F882-F9B6-2E77-1399CE928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1ADC9F-D912-CDB2-1D20-B00344688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C156A-9FEC-1154-74D1-C426F123DF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8388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0C3CE-3718-3381-614D-FE8E034CB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14BA33-044C-0F92-0735-50FDF5524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107205-FF0A-AA36-75DF-1969904E0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CA2A3-D44F-9F78-1A98-593266E9B2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7144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B72FB-8886-E420-8E3D-534A8CC87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7818F7-7C1D-A95E-512C-1838FD844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DFF4C9-8CD0-6BB7-CEB6-1D3AD4B30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3A759-5178-3A81-6C70-7762033C7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2552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D1316-4CC4-2A49-A755-2F5E11868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1D41C4-2771-21F1-55A3-DBED35639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A572D8-6D41-BDBC-E843-01EC6A3CE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DF13E-21BB-562E-D58B-ABFD854359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754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1DE86-14E8-940F-FE28-776D5BF4B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4D161-E05D-4307-DBE4-569B2E3AC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612E2E-3658-808C-B742-20B92EF70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E8A3E-E835-9C84-C2E7-9D4BB24E13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2403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8ECDB-B434-5957-7739-A8A331D50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17A354-F295-BB9F-E4D8-FEC2A9FC7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4B1E24-7A94-D257-D9A3-64D8E6ED2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7F23D-B1B4-EF38-7012-A4793858B5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38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51074-3F2F-A183-8C9C-86CCD26CF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6F980E-CFC7-31C1-C608-0C1A57A3F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FEFD38-E74B-A13C-0FCE-F357A9B23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62EA7-0B65-A9A7-C335-736C082275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52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43041-5A02-BB66-2B91-3B6AA5304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C3BE75-939D-2710-FEC4-FF1DB6D868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848842-BBF3-5EEB-D925-115908086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421DF-7202-B4FE-A7A8-8BDA54C649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2492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D70B5-8839-7E29-1A77-A66DF10CF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05E81D-D187-E2E6-39F2-5FF9D520A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2B3A5E-7125-3D2B-5488-8FF676461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804CC-7857-4768-0457-467CA2B780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5425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CCC47-6088-3286-DEF6-D20DAE08E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C1C1A7-DC33-4C53-9988-20EB4F4EF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ACDC1-094A-7249-B390-1459BD3CE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175E7-C267-9128-EE81-B9CCD172B9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5346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9A62D-0359-4E1F-BD3E-19CDAF29A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5E1E3-81D9-473D-32E0-4203260E9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924348-9769-20E2-214E-3BB3EFE7D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99D96-8475-BEE1-C5B7-8F48637CE4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400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52483-BB3A-42DD-6027-F9A1F5483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3641B9-219E-6621-6A2F-6CBEEEC570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C649EF-6FCA-3F02-1DA9-E4DAC3D1E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ACE4D-2435-FC94-2EAC-6BF54DCC57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427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130E2-C0F2-A398-C515-C73C9A341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8B5EAE-652A-BFF9-825B-5EEE72747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0BDD6F-2445-63B0-245C-26B7CF352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F5610-4E87-40A0-1758-5CE38004BF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3209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F1333-F4B9-BFBF-3C99-D39E6486C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202479-F815-74B5-C2EE-A22CBA58F5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7B8D40-2E2D-F87D-F958-EA762CFAD3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64050-F6CA-0F02-3C3A-9D55A38B63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172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A0A94-83E4-D87B-98A4-52EF59078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1998EF-316F-9527-3075-5371081CD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3F364F-B05D-AB1B-2713-8E8C919DD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E26F5-0C72-1E57-7874-35C715B6C1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8297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A691C-FDE6-44FA-BD5E-E3C64E188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E53335-7E5B-CC99-03AF-2E41E7869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F8FC0D-A07D-D55F-6513-128EB0763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58BD6-FBB5-09CE-8D0F-852AF063D9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5885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F839A-E55A-3623-1699-EB810480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2CAF2F-6A7E-6A7F-F1EE-16EF1AE53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1E1325-8A74-7AF4-C9FA-08E15773F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F1081-CF6B-83A8-2DEE-1D90C94479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698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39052-3C28-233A-3552-F8605E8EB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4CAC0A-3464-F26A-84DC-8BF2952E4E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C9B4A1-6C77-AF87-E61E-726970EC4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AECC1-85EF-3362-993A-9577617425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63304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42E21-9773-F8DD-96CF-EBBD6F285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AEFE92-2E70-49D2-9B98-0CD416658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FA5CB-5656-0685-07FF-3040C1BAE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501BD-9EFE-EFB7-976D-2D4E57AAF0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2839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510DE-D198-F423-DF43-7604AD96C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01C384-5E8A-1031-21D7-8E0452527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682FA8-DE91-099C-1353-1927216B0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4A07D-A3C3-D540-CBD7-E1E1A424B8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813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71EDC8-69AD-A404-743E-8FAF8AFB3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648669" y="-2685331"/>
            <a:ext cx="6894662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CDC76-D7FA-9A35-D1B2-8458CDBF3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29660D-58F3-3117-2139-466A866A9FEA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3" name="Image 0" descr="logo.png">
            <a:extLst>
              <a:ext uri="{FF2B5EF4-FFF2-40B4-BE49-F238E27FC236}">
                <a16:creationId xmlns:a16="http://schemas.microsoft.com/office/drawing/2014/main" id="{B7263A54-FF77-AA41-BDC1-5C30B5FED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2011680" cy="76082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E662604-9A43-AC37-F7B1-629AFABC1F98}"/>
              </a:ext>
            </a:extLst>
          </p:cNvPr>
          <p:cNvSpPr txBox="1"/>
          <p:nvPr/>
        </p:nvSpPr>
        <p:spPr>
          <a:xfrm>
            <a:off x="5486400" y="4114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Electronics Engineering (SENSE)</a:t>
            </a:r>
            <a:endParaRPr lang="en-US" sz="1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ED55AD4-1426-A614-E397-B42199C8D9FE}"/>
              </a:ext>
            </a:extLst>
          </p:cNvPr>
          <p:cNvSpPr txBox="1"/>
          <p:nvPr/>
        </p:nvSpPr>
        <p:spPr>
          <a:xfrm>
            <a:off x="5486400" y="7498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</a:t>
            </a:r>
            <a:endParaRPr lang="en-US" sz="1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837FB38-AF99-DCF2-F408-02FD5CB90749}"/>
              </a:ext>
            </a:extLst>
          </p:cNvPr>
          <p:cNvSpPr txBox="1"/>
          <p:nvPr/>
        </p:nvSpPr>
        <p:spPr>
          <a:xfrm>
            <a:off x="548640" y="17373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ECG Arrhythmia Detection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CEA1D9D-226D-4EEE-EE39-9E627BAAA314}"/>
              </a:ext>
            </a:extLst>
          </p:cNvPr>
          <p:cNvSpPr txBox="1"/>
          <p:nvPr/>
        </p:nvSpPr>
        <p:spPr>
          <a:xfrm>
            <a:off x="822960" y="3063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Name(s):</a:t>
            </a:r>
            <a:endParaRPr lang="en-US" sz="1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EBED6C4-6CB0-A65D-4FC2-5F1A8FD598D0}"/>
              </a:ext>
            </a:extLst>
          </p:cNvPr>
          <p:cNvSpPr txBox="1"/>
          <p:nvPr/>
        </p:nvSpPr>
        <p:spPr>
          <a:xfrm>
            <a:off x="3474720" y="3063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Vimal </a:t>
            </a:r>
            <a:r>
              <a:rPr lang="en-US" sz="1400" dirty="0" err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Aadhitan</a:t>
            </a:r>
            <a:r>
              <a:rPr lang="en-US" sz="14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Mohan Indira – 23BEC1373</a:t>
            </a:r>
            <a:br>
              <a:rPr lang="en-US" sz="14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</a:br>
            <a:r>
              <a:rPr lang="en-US" sz="14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Yaswanth Sri Varma Ambati – 23BEC1386</a:t>
            </a:r>
            <a:br>
              <a:rPr lang="en-US" sz="14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</a:br>
            <a:r>
              <a:rPr lang="en-US" sz="14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Pranav J – 23BEC1403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284A655-8D08-6418-B27F-963980637C49}"/>
              </a:ext>
            </a:extLst>
          </p:cNvPr>
          <p:cNvSpPr/>
          <p:nvPr/>
        </p:nvSpPr>
        <p:spPr>
          <a:xfrm>
            <a:off x="3474720" y="346557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76539D2-C497-D0F2-1FC1-42142C1F9079}"/>
              </a:ext>
            </a:extLst>
          </p:cNvPr>
          <p:cNvSpPr txBox="1"/>
          <p:nvPr/>
        </p:nvSpPr>
        <p:spPr>
          <a:xfrm>
            <a:off x="822960" y="3657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14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934B5CA-C90B-A3A4-9F05-1910A7A18E22}"/>
              </a:ext>
            </a:extLst>
          </p:cNvPr>
          <p:cNvSpPr txBox="1"/>
          <p:nvPr/>
        </p:nvSpPr>
        <p:spPr>
          <a:xfrm>
            <a:off x="3474720" y="3657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Dr. Sakthivel S. M. , SENSE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4F6CBF6-FDA7-175F-3C98-8B1D269DCEE5}"/>
              </a:ext>
            </a:extLst>
          </p:cNvPr>
          <p:cNvSpPr/>
          <p:nvPr/>
        </p:nvSpPr>
        <p:spPr>
          <a:xfrm>
            <a:off x="3474720" y="405993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8CABC5C-E400-94D3-EE03-25FCF6132CC3}"/>
              </a:ext>
            </a:extLst>
          </p:cNvPr>
          <p:cNvSpPr txBox="1"/>
          <p:nvPr/>
        </p:nvSpPr>
        <p:spPr>
          <a:xfrm>
            <a:off x="822960" y="4251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/ School:</a:t>
            </a:r>
            <a:endParaRPr lang="en-US" sz="14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73C5F11-B42A-5A8B-575B-18DF57771A5E}"/>
              </a:ext>
            </a:extLst>
          </p:cNvPr>
          <p:cNvSpPr txBox="1"/>
          <p:nvPr/>
        </p:nvSpPr>
        <p:spPr>
          <a:xfrm>
            <a:off x="3474720" y="4251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SENSE, VIT Chennai</a:t>
            </a:r>
            <a:endParaRPr lang="en-US" sz="14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143B6D5B-A962-0DB1-878D-E8C5428DFF9B}"/>
              </a:ext>
            </a:extLst>
          </p:cNvPr>
          <p:cNvSpPr/>
          <p:nvPr/>
        </p:nvSpPr>
        <p:spPr>
          <a:xfrm>
            <a:off x="3474720" y="465429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742D804-2FA8-6477-D073-AB3A72487061}"/>
              </a:ext>
            </a:extLst>
          </p:cNvPr>
          <p:cNvSpPr txBox="1"/>
          <p:nvPr/>
        </p:nvSpPr>
        <p:spPr>
          <a:xfrm>
            <a:off x="822960" y="4846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Date:</a:t>
            </a:r>
            <a:endParaRPr lang="en-US" sz="14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D8AE293-A3E8-A2E6-E0ED-EB63C3F4D613}"/>
              </a:ext>
            </a:extLst>
          </p:cNvPr>
          <p:cNvSpPr txBox="1"/>
          <p:nvPr/>
        </p:nvSpPr>
        <p:spPr>
          <a:xfrm>
            <a:off x="3474720" y="4846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  ·  30.09.2026 (Wednesday)</a:t>
            </a:r>
            <a:endParaRPr lang="en-US" sz="14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00AF4253-B712-CBFA-6A30-CAC95BE93CB7}"/>
              </a:ext>
            </a:extLst>
          </p:cNvPr>
          <p:cNvSpPr/>
          <p:nvPr/>
        </p:nvSpPr>
        <p:spPr>
          <a:xfrm>
            <a:off x="3474720" y="524865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673D2975-8086-0173-4B53-A6A564944932}"/>
              </a:ext>
            </a:extLst>
          </p:cNvPr>
          <p:cNvSpPr/>
          <p:nvPr/>
        </p:nvSpPr>
        <p:spPr>
          <a:xfrm>
            <a:off x="8046720" y="3063240"/>
            <a:ext cx="365760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2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7601B153-9448-7CFC-D0E1-AB8177C60CCD}"/>
              </a:ext>
            </a:extLst>
          </p:cNvPr>
          <p:cNvSpPr txBox="1"/>
          <p:nvPr/>
        </p:nvSpPr>
        <p:spPr>
          <a:xfrm>
            <a:off x="822960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Guide's Signature with Date</a:t>
            </a:r>
            <a:endParaRPr lang="en-US" sz="14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32E6FD98-0FAB-D178-2F2F-AF6919D29186}"/>
              </a:ext>
            </a:extLst>
          </p:cNvPr>
          <p:cNvSpPr txBox="1"/>
          <p:nvPr/>
        </p:nvSpPr>
        <p:spPr>
          <a:xfrm>
            <a:off x="822960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_____________________</a:t>
            </a:r>
            <a:endParaRPr lang="en-US" sz="13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16FADE86-FC82-43D7-AC2A-F128229E8D1D}"/>
              </a:ext>
            </a:extLst>
          </p:cNvPr>
          <p:cNvSpPr txBox="1"/>
          <p:nvPr/>
        </p:nvSpPr>
        <p:spPr>
          <a:xfrm>
            <a:off x="822960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_________________________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205038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Introduction &amp; Problem Recap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800"/>
              </a:spcBef>
              <a:spcAft>
                <a:spcPts val="300"/>
              </a:spcAft>
              <a:buSzPct val="100000"/>
              <a:defRPr sz="1300" b="1">
                <a:solidFill>
                  <a:srgbClr val="1A365D"/>
                </a:solidFill>
                <a:latin typeface="Segoe UI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</a:rPr>
              <a:t>Problem recap: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spcAft>
                <a:spcPts val="2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</a:rPr>
              <a:t>Continuous wearable cardiac monitoring demands real-time arrhythmia diagnosis with sub-microwatt power.</a:t>
            </a:r>
          </a:p>
          <a:p>
            <a:pPr lvl="1">
              <a:spcAft>
                <a:spcPts val="2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</a:rPr>
              <a:t>Prior WTSEE architectures rely on power-hungry hardware dividers, large ROM tables, or lack on-chip rhythm classification.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300" b="1">
                <a:solidFill>
                  <a:srgbClr val="1A365D"/>
                </a:solidFill>
                <a:latin typeface="Segoe UI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</a:rPr>
              <a:t>Objectives:</a:t>
            </a: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  <a:defRPr sz="1000">
                <a:solidFill>
                  <a:srgbClr val="0F172A"/>
                </a:solidFill>
                <a:latin typeface="Segoe UI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</a:rPr>
              <a:t>Eliminate 100% of hardware dividers using a dynamic Leading-One Power-of-2 AGC Normalizer.</a:t>
            </a: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  <a:defRPr sz="1000">
                <a:solidFill>
                  <a:srgbClr val="0F172A"/>
                </a:solidFill>
                <a:latin typeface="Segoe UI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</a:rPr>
              <a:t>Prune memory by 93.75% (12-bit Shannon LUT) and multiplier area by 60.9% with operand isolation.</a:t>
            </a: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  <a:defRPr sz="1000">
                <a:solidFill>
                  <a:srgbClr val="0F172A"/>
                </a:solidFill>
                <a:latin typeface="Segoe UI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</a:rPr>
              <a:t>Integrate real-time 3-class arrhythmia diagnosis (Normal Sinus Rhythm, Bradycardia, Tachycardia).</a:t>
            </a: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  <a:defRPr sz="1000">
                <a:solidFill>
                  <a:srgbClr val="0F172A"/>
                </a:solidFill>
                <a:latin typeface="Segoe UI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</a:rPr>
              <a:t>Verify on Xilinx </a:t>
            </a:r>
            <a:r>
              <a:rPr sz="1600" dirty="0" err="1">
                <a:latin typeface="Cambria" panose="02040503050406030204" pitchFamily="18" charset="0"/>
                <a:ea typeface="Cambria" panose="02040503050406030204" pitchFamily="18" charset="0"/>
              </a:rPr>
              <a:t>ZedBoard</a:t>
            </a: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</a:rPr>
              <a:t> FPGA (xc7z020) and target Cadence Genus 180nm ASIC synthesis.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300" b="1">
                <a:solidFill>
                  <a:srgbClr val="1A365D"/>
                </a:solidFill>
                <a:latin typeface="Segoe UI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</a:rPr>
              <a:t>Refinements after Review-I feedback:</a:t>
            </a: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  <a:defRPr sz="1000">
                <a:solidFill>
                  <a:srgbClr val="0F172A"/>
                </a:solidFill>
                <a:latin typeface="Segoe UI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</a:rPr>
              <a:t>Shifted benchmarking from internal baseline to direct comparison against published base papers (Kumar 2018, Park 2017, Nandini 2025).</a:t>
            </a: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  <a:defRPr sz="1000">
                <a:solidFill>
                  <a:srgbClr val="0F172A"/>
                </a:solidFill>
                <a:latin typeface="Segoe UI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</a:rPr>
              <a:t>Built autonomous hardware test framework on </a:t>
            </a:r>
            <a:r>
              <a:rPr sz="1600" dirty="0" err="1">
                <a:latin typeface="Cambria" panose="02040503050406030204" pitchFamily="18" charset="0"/>
                <a:ea typeface="Cambria" panose="02040503050406030204" pitchFamily="18" charset="0"/>
              </a:rPr>
              <a:t>ZedBoard</a:t>
            </a: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</a:rPr>
              <a:t> with on-chip ECG playback and real-time LED indicators.</a:t>
            </a: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  <a:defRPr sz="1000">
                <a:solidFill>
                  <a:srgbClr val="0F172A"/>
                </a:solidFill>
                <a:latin typeface="Segoe UI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</a:rPr>
              <a:t>Prepared complete Cadence Genus 180nm synthesis flow for verified post-synthesis PPA reporting without fabricated estimates.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Detailed Literature Review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CB97CA5-D53E-6810-94EB-F97AD3AC88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882949"/>
              </p:ext>
            </p:extLst>
          </p:nvPr>
        </p:nvGraphicFramePr>
        <p:xfrm>
          <a:off x="290422" y="935238"/>
          <a:ext cx="11611155" cy="5785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5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7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27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2122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Author(s) &amp; Year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Title / Source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Method / Approach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Findings &amp; Research Gap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6101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Aravind Kumar,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Kamsali</a:t>
                      </a: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Manjunatha Chari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(2018)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Efficient FPGA-based VLSI architecture for detecting R-peaks in electrocardiogram signal by combining Shannon energy with Hilbert transform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[IET Signal Processing]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Shannon energy with Hilbert transform (Radix-2 8-point RFFT/IRFFT) + 32-tap FIR Bandpass Filter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Findings: 99.95% Sensitivity, 99.86% Accuracy on 35,991 beats (Virtex-5: 1,408 LUTs, 1,086 FFs).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Research Gap: Heavy Hilbert transform (FFT/IFFT butterfly units &amp; twiddle mults) and 32-tap FIR. Pure peak detector with zero arrhythmia classification; no power/ASIC metrics reported.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9496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K. P. Nandini,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G. </a:t>
                      </a:r>
                      <a:r>
                        <a:rPr sz="11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Seshikala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(2025)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Efficient ECG Arrhythmia Detection on FPGA using Machine Learning and Fiducial Windowing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[ETASR]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Machine Learning (MobileNetV2 / TFLite) and Fiducial Windowing + 2-level 1D DWT on PYNQ-Z2 board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Findings: 99.70% Accuracy across 4 classes; 0.42 mW reported power on PYNQ FPGA board.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Research Gap: Severe inference latency of 0.723 s (723 ms) per beat. Heavy computational overhead consuming 443M CPU cycles and 233M instructions on ARM processor; not suitable for real-time edge ASIC.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9496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Jeong-Seon Park,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Sang-Woong Lee,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Unsang Park (2017)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 Peak Detection Method Using Wavelet Transform and Modified Shannon Energy Envelope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[Journal of Healthcare Engineering]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Wavelet Transform (</a:t>
                      </a:r>
                      <a:r>
                        <a:rPr sz="11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Symlets</a:t>
                      </a: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5) and Modified Shannon Energy Envelope (SEE + PEE) in MATLAB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Findings: 99.93% Sensitivity, 99.84% Accuracy across all 48 MIT-BIH records in software.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Research Gap: Pure offline floating-point MATLAB simulation with zero hardware implementation. Relies on 2 mathematical divisions (Dn/max|Dn|) and 65,536-word ROM; lacks arrhythmia diagnosis.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6101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V. B. K. L. Aruna,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E. Chitra, M. Padmaja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(2023)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Accelerating deep convolutional neural network on FPGA for ECG signal classification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[Microprocessors &amp; Microsystems]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Deep CNN inference engine accelerated on FPGA for automated cardiac arrhythmia classification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Findings: 99.67% accuracy on PTB database; 0.45 </a:t>
                      </a:r>
                      <a:r>
                        <a:rPr sz="11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mW</a:t>
                      </a: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power consumption on FPGA platform.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Research Gap: High classification latency of 15 seconds per evaluation; requires heavy memory bandwidth for convolutional layer weights, making it unsuitable for real-time edge streaming.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6101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M. Carreras, G. </a:t>
                      </a:r>
                      <a:r>
                        <a:rPr sz="11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Deriu</a:t>
                      </a: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L. Raffo, L. Benini,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P. Meloni (2020)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Optimizing Temporal Convolutional Network Inference on FPGA-Based Accelerators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[IEEE JETCAS]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Quantized Temporal Convolutional Networks (TCN) implemented on FPGA accelerator for </a:t>
                      </a:r>
                      <a:r>
                        <a:rPr sz="11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biosignals</a:t>
                      </a:r>
                      <a:endParaRPr sz="11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Findings: 96.0% accuracy on ECG datasets with fast 17 </a:t>
                      </a:r>
                      <a:r>
                        <a:rPr sz="11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ms</a:t>
                      </a: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latency per inference.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Research Gap: Relatively high power consumption of 3.3 </a:t>
                      </a:r>
                      <a:r>
                        <a:rPr sz="11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mW</a:t>
                      </a: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; requires dedicated on-chip memory buffers for dilated convolution receptive fields.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F95CF-062E-4F01-8A8D-ABDDA750C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A7E411-82F2-FDB5-3D7B-7C8755636F45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846246-E75C-E331-600C-D1DFE11C9B98}"/>
              </a:ext>
            </a:extLst>
          </p:cNvPr>
          <p:cNvSpPr txBox="1"/>
          <p:nvPr/>
        </p:nvSpPr>
        <p:spPr>
          <a:xfrm>
            <a:off x="384738" y="152986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Detailed Literature Review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69E3EED3-FFB1-BC98-6247-81CF43978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236513"/>
            <a:ext cx="1371600" cy="518746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8369902-E463-8DE0-C7BC-DE034E4A3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391183"/>
              </p:ext>
            </p:extLst>
          </p:nvPr>
        </p:nvGraphicFramePr>
        <p:xfrm>
          <a:off x="275165" y="838786"/>
          <a:ext cx="11459330" cy="5762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7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9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14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3719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Author(s) &amp; Year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Title / Source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Method / Approach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Findings &amp; Research Gap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1414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A. Giorgio,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C. </a:t>
                      </a:r>
                      <a:r>
                        <a:rPr sz="11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Guaragnella</a:t>
                      </a: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M. Rizzi (2023)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FPGA-Based Decision Support System for ECG Analysis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[J. Low Power Electron. Appl.]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Morphological filtering and statistical time-domain feature extraction on FPGA fabric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Findings: 99.20% accuracy with 0.2 s processing time on PTB Diagnostic database.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Research Gap: High logic gate utilization due to floating-point feature calculators; lacks on-chip dynamic clock gating for ultra-low power operation.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5372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S. Ran, S. Wang,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X. Zhang, et al.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(2022)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Homecare-Oriented ECG Diagnosis With Large-Scale Deep Neural Network on Embedded Devices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[IEEE TIM]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End-to-end deep neural network deployed on embedded SoC for wearable continuous homecare monitoring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Findings: Automated multi-class arrhythmia detection with 86.7% accuracy on embedded edge platforms.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Research Gap: Lower accuracy (86.7%) under noisy conditions; high inference latency of 2.875 s and power consumption of 2.81 mW.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5372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R. Srivastava, B. Kumar,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F. Alenezi, K. Polat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(2022)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Automatic Arrhythmia Detection Based on Probabilistic Neural Network with FPGA Implementation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[Math. </a:t>
                      </a:r>
                      <a:r>
                        <a:rPr sz="11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Probl</a:t>
                      </a: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. Eng.]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Probabilistic Neural Network (PNN) mapped to FPGA fabric for multi-class arrhythmia classification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Findings: High classification accuracy (&gt;98%) on MIT-BIH dataset with parallelized neural pattern layer.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Research Gap: High DSP block consumption due to Gaussian kernel calculations; exponential functions require massive LUT approximation resources.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5372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D. Panigrahy, M. Rakshit,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P. K. Sahu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(2018)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FPGA implementation of heart rate monitoring system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[Journal of Medical Systems]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Zero-crossing, derivative, and moving average filtering on FPGA for real-time QRS detection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Findings: 99.84% accuracy, 99.94% sensitivity on MIT-BIH database; implemented on Spartan-6 FPGA.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Research Gap: Highly sensitive to baseline wander and tall T-waves; lacks adaptive thresholding and arrhythmia classification logic.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1414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A. Deep, S. Agrawal,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A. Vats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(2022)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FPGA-based real-time QRS detection using fractional Fourier transform and Shannon entropy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[Computers in Biol. &amp; Med.]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Fractional Fourier Transform (</a:t>
                      </a:r>
                      <a:r>
                        <a:rPr sz="11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FrFT</a:t>
                      </a: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) combined with Shannon entropy windowing for QRS localization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Findings: 99.78% sensitivity under severe motion artifacts and muscle tremor noise.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Research Gap: High hardware complexity in computing fractional order transforms; large area overhead and latency in multiplier-heavy stages.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3431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276423-CD67-7034-8F28-EFCFD6306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DCA021-153E-4FF8-841A-12532334C03C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95E1095-56C1-422B-28C9-41E0976BABD1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Detailed Literature Review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8A256B65-3589-6A30-23A9-645F180B9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86310FD-3660-DADF-8150-47EF7504A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694019"/>
              </p:ext>
            </p:extLst>
          </p:nvPr>
        </p:nvGraphicFramePr>
        <p:xfrm>
          <a:off x="436496" y="1005840"/>
          <a:ext cx="11094415" cy="547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96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Author(s) &amp; Year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Title / Source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Method / Approach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Findings &amp; Research Gap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E. B. Saini,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R. Gupta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(2021)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0.5-V 1.83-µW Bio-Signal Processing ASIC for Wearable ECG Monitoring Systems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[IEEE TCAS-I]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Sub-threshold ASIC architecture using non-linear difference equations and low-voltage logic (65nm CMOS)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Findings: Ultra-low power consumption of 1.83 µW at 0.5 V supply; 99.1% QRS detection sensitivity.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Research Gap: Complex sub-threshold custom transistor sizing vulnerable to PVT variations; only outputs raw R-peaks with no arrhythmia rhythm classification.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Y. Chen, J. Lin,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H. Chang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(2022)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Low-Power Hardware Architecture for Real-Time QRS Detection Based on Stationary Wavelet Transform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[IEEE TCAS-II]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Stationary Wavelet Transform (SWT) with memory-shared lifting scheme and dual-threshold peak finder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Findings: 99.82% detection accuracy; 42% reduction in internal buffer registers through shared memory.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Research Gap: Lacks Shannon energy envelope non-linear transformation, leading to occasional false triggers on tall peaked T-waves.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L. Liu, Z. Wang,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M. Zhang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(2022)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 Energy-Efficient ECG Arrhythmia Classifier ASIC with On-Chip Feature Extraction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[IEEE TVLSI]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On-chip Pan-Tompkins feature extractor coupled with dedicated 1-D systolic array CNN in 55nm CMOS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Findings: 98.4% multi-class arrhythmia accuracy with 4.1 µW total system power.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Research Gap: High silicon area (0.78 mm²) dominated by CNN weight SRAM; fixed-weight network cannot adapt to patient-specific morphology variations.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H. Beyramienanlou,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N. Lotfivand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(2018)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Shannon's energy based algorithm in ECG signal processing with hardware evaluation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[CMMM]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Shannon energy envelope with dynamic thresholding and adaptive refractory period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Findings: 99.81% sensitivity on MIT-BIH database; verified in digital simulation.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Research Gap: Unoptimized logarithmic lookup table consuming excessive memory; uses iterative division for threshold updates causing pipeline stalls.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H. Zhu,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J. Dong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(2018)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 R-peak detection method based on peaks of Shannon energy envelope</a:t>
                      </a:r>
                      <a:b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[Biomedical Signal Processing &amp; Control]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Direct Shannon Energy Envelope (PSEE) with empirical amplitude thresholding and moving average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Findings: 99.83% accuracy with simple moving average integration on normal ECG signals.</a:t>
                      </a:r>
                      <a:b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Research Gap: Highly sensitive to sudden amplitude variations and pacing spikes; lacks second-stage peak energy envelope (PEE) and search-back rescue.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9757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C3864F-E546-239A-99EB-7C311822C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46D90A-BE09-58BF-7081-DC42A104FA9F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7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69449E35-3881-3BD4-E7D8-D356F49BF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2CF0A6-6D68-B7AE-68CB-4E5A80F1DEC0}"/>
              </a:ext>
            </a:extLst>
          </p:cNvPr>
          <p:cNvSpPr txBox="1"/>
          <p:nvPr/>
        </p:nvSpPr>
        <p:spPr>
          <a:xfrm>
            <a:off x="548640" y="411480"/>
            <a:ext cx="73152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A365D"/>
                </a:solidFill>
                <a:latin typeface="Segoe UI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Consolidated Research Gaps Identified</a:t>
            </a:r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60838958-0ADA-9E36-3DCF-80B885DACBE5}"/>
              </a:ext>
            </a:extLst>
          </p:cNvPr>
          <p:cNvSpPr/>
          <p:nvPr/>
        </p:nvSpPr>
        <p:spPr>
          <a:xfrm>
            <a:off x="685800" y="1325880"/>
            <a:ext cx="2926080" cy="40011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sz="1200" dirty="0">
                <a:latin typeface="Cambria" panose="02040503050406030204" pitchFamily="18" charset="0"/>
                <a:ea typeface="Cambria" panose="02040503050406030204" pitchFamily="18" charset="0"/>
              </a:rPr>
              <a:t>GAP 1: HARDWARE DIVIDER BOTTLENECK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CBB4BA-8EC1-5CCC-D11E-566D6159957B}"/>
              </a:ext>
            </a:extLst>
          </p:cNvPr>
          <p:cNvSpPr txBox="1"/>
          <p:nvPr/>
        </p:nvSpPr>
        <p:spPr>
          <a:xfrm>
            <a:off x="3749039" y="1307592"/>
            <a:ext cx="7772400" cy="764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rPr sz="1200" dirty="0">
                <a:latin typeface="Cambria" panose="02040503050406030204" pitchFamily="18" charset="0"/>
                <a:ea typeface="Cambria" panose="02040503050406030204" pitchFamily="18" charset="0"/>
              </a:rPr>
              <a:t>•  Existing WTSEE &amp; normalizer schemes (Park 2017, </a:t>
            </a:r>
            <a:r>
              <a:rPr sz="1200" dirty="0" err="1">
                <a:latin typeface="Cambria" panose="02040503050406030204" pitchFamily="18" charset="0"/>
                <a:ea typeface="Cambria" panose="02040503050406030204" pitchFamily="18" charset="0"/>
              </a:rPr>
              <a:t>Beyramienanlou</a:t>
            </a:r>
            <a:r>
              <a:rPr sz="1200" dirty="0">
                <a:latin typeface="Cambria" panose="02040503050406030204" pitchFamily="18" charset="0"/>
                <a:ea typeface="Cambria" panose="02040503050406030204" pitchFamily="18" charset="0"/>
              </a:rPr>
              <a:t> 2018) require 2 iterative 24-bit/32-bit hardware dividers (Dn/</a:t>
            </a:r>
            <a:r>
              <a:rPr sz="1200" dirty="0" err="1">
                <a:latin typeface="Cambria" panose="02040503050406030204" pitchFamily="18" charset="0"/>
                <a:ea typeface="Cambria" panose="02040503050406030204" pitchFamily="18" charset="0"/>
              </a:rPr>
              <a:t>max|Dn</a:t>
            </a:r>
            <a:r>
              <a:rPr sz="1200" dirty="0">
                <a:latin typeface="Cambria" panose="02040503050406030204" pitchFamily="18" charset="0"/>
                <a:ea typeface="Cambria" panose="02040503050406030204" pitchFamily="18" charset="0"/>
              </a:rPr>
              <a:t>|), causing massive silicon area, latency stalls, and power dissipation.</a:t>
            </a:r>
          </a:p>
          <a:p>
            <a:pPr>
              <a:defRPr sz="819" b="1">
                <a:solidFill>
                  <a:srgbClr val="059669"/>
                </a:solidFill>
                <a:latin typeface="Segoe UI"/>
              </a:defRPr>
            </a:pPr>
            <a:r>
              <a:rPr sz="1200" dirty="0">
                <a:latin typeface="Cambria" panose="02040503050406030204" pitchFamily="18" charset="0"/>
                <a:ea typeface="Cambria" panose="02040503050406030204" pitchFamily="18" charset="0"/>
              </a:rPr>
              <a:t>Proposed Solution: 100% Divider Elimination via dynamic Leading-One Power-of-2 AGC Normalizer (pow2_normalizer.v), replacing division arrays with zero-latency barrel shifters.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7A3B0FEA-4CBF-B1E4-D17F-0F658CC80335}"/>
              </a:ext>
            </a:extLst>
          </p:cNvPr>
          <p:cNvSpPr/>
          <p:nvPr/>
        </p:nvSpPr>
        <p:spPr>
          <a:xfrm>
            <a:off x="685800" y="2331720"/>
            <a:ext cx="2926080" cy="40011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sz="1200" dirty="0">
                <a:latin typeface="Cambria" panose="02040503050406030204" pitchFamily="18" charset="0"/>
                <a:ea typeface="Cambria" panose="02040503050406030204" pitchFamily="18" charset="0"/>
              </a:rPr>
              <a:t>GAP 2: HEAVY TRANSFORM ENGINES &amp; MULTIPLIERS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6A423A-B77E-7DAF-D22B-1FBC1BDEA038}"/>
              </a:ext>
            </a:extLst>
          </p:cNvPr>
          <p:cNvSpPr txBox="1"/>
          <p:nvPr/>
        </p:nvSpPr>
        <p:spPr>
          <a:xfrm>
            <a:off x="3749039" y="2313432"/>
            <a:ext cx="7772400" cy="764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rPr sz="1200" dirty="0">
                <a:latin typeface="Cambria" panose="02040503050406030204" pitchFamily="18" charset="0"/>
                <a:ea typeface="Cambria" panose="02040503050406030204" pitchFamily="18" charset="0"/>
              </a:rPr>
              <a:t>•  Hilbert Transform architectures (Kumar 2018 - Base Paper, Deep 2022) require complex 8-point RFFT/IRFFT butterfly engines and 32-tap FIR filters with heavy multiplier and buffer overhead.</a:t>
            </a:r>
          </a:p>
          <a:p>
            <a:pPr>
              <a:defRPr sz="819" b="1">
                <a:solidFill>
                  <a:srgbClr val="059669"/>
                </a:solidFill>
                <a:latin typeface="Segoe UI"/>
              </a:defRPr>
            </a:pPr>
            <a:r>
              <a:rPr sz="1200" dirty="0">
                <a:latin typeface="Cambria" panose="02040503050406030204" pitchFamily="18" charset="0"/>
                <a:ea typeface="Cambria" panose="02040503050406030204" pitchFamily="18" charset="0"/>
              </a:rPr>
              <a:t>Proposed Solution: Replaced FFT/IFFT with a 10-bit Operand-Isolated Squarer (square10.v) + 43-tap Moving Sum (Peak Energy Envelope), cutting 100% of FFT butterflies and FIR multipliers.</a:t>
            </a:r>
          </a:p>
        </p:txBody>
      </p:sp>
      <p:sp>
        <p:nvSpPr>
          <p:cNvPr id="19" name="Rounded Rectangle 11">
            <a:extLst>
              <a:ext uri="{FF2B5EF4-FFF2-40B4-BE49-F238E27FC236}">
                <a16:creationId xmlns:a16="http://schemas.microsoft.com/office/drawing/2014/main" id="{0589E4AC-D853-2B6A-F9A8-9EB12865D67D}"/>
              </a:ext>
            </a:extLst>
          </p:cNvPr>
          <p:cNvSpPr/>
          <p:nvPr/>
        </p:nvSpPr>
        <p:spPr>
          <a:xfrm>
            <a:off x="685800" y="3337560"/>
            <a:ext cx="2926080" cy="40011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sz="1200" dirty="0">
                <a:latin typeface="Cambria" panose="02040503050406030204" pitchFamily="18" charset="0"/>
                <a:ea typeface="Cambria" panose="02040503050406030204" pitchFamily="18" charset="0"/>
              </a:rPr>
              <a:t>GAP 3: MASSIVE SHANNON ROM MEMORY OVERHEAD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A8878F-C748-939D-F18E-5F01935D86FF}"/>
              </a:ext>
            </a:extLst>
          </p:cNvPr>
          <p:cNvSpPr txBox="1"/>
          <p:nvPr/>
        </p:nvSpPr>
        <p:spPr>
          <a:xfrm>
            <a:off x="3749039" y="3319272"/>
            <a:ext cx="7772400" cy="764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rPr sz="1200" dirty="0">
                <a:latin typeface="Cambria" panose="02040503050406030204" pitchFamily="18" charset="0"/>
                <a:ea typeface="Cambria" panose="02040503050406030204" pitchFamily="18" charset="0"/>
              </a:rPr>
              <a:t>•  Direct Shannon energy lookups (Park 2017, </a:t>
            </a:r>
            <a:r>
              <a:rPr sz="1200" dirty="0" err="1">
                <a:latin typeface="Cambria" panose="02040503050406030204" pitchFamily="18" charset="0"/>
                <a:ea typeface="Cambria" panose="02040503050406030204" pitchFamily="18" charset="0"/>
              </a:rPr>
              <a:t>Beyramienanlou</a:t>
            </a:r>
            <a:r>
              <a:rPr sz="1200" dirty="0">
                <a:latin typeface="Cambria" panose="02040503050406030204" pitchFamily="18" charset="0"/>
                <a:ea typeface="Cambria" panose="02040503050406030204" pitchFamily="18" charset="0"/>
              </a:rPr>
              <a:t> 2018) require unconstrained 16-bit addressing (65,536 words / 1.05 Mb), exceeding feasible on-chip SRAM/ROM budgets for wearable ASICs.</a:t>
            </a:r>
          </a:p>
          <a:p>
            <a:pPr>
              <a:defRPr sz="819" b="1">
                <a:solidFill>
                  <a:srgbClr val="059669"/>
                </a:solidFill>
                <a:latin typeface="Segoe UI"/>
              </a:defRPr>
            </a:pPr>
            <a:r>
              <a:rPr sz="1200" dirty="0">
                <a:latin typeface="Cambria" panose="02040503050406030204" pitchFamily="18" charset="0"/>
                <a:ea typeface="Cambria" panose="02040503050406030204" pitchFamily="18" charset="0"/>
              </a:rPr>
              <a:t>Proposed Solution: </a:t>
            </a:r>
            <a:r>
              <a:rPr sz="1200" dirty="0" err="1">
                <a:latin typeface="Cambria" panose="02040503050406030204" pitchFamily="18" charset="0"/>
                <a:ea typeface="Cambria" panose="02040503050406030204" pitchFamily="18" charset="0"/>
              </a:rPr>
              <a:t>Bitwidth</a:t>
            </a:r>
            <a:r>
              <a:rPr sz="1200" dirty="0">
                <a:latin typeface="Cambria" panose="02040503050406030204" pitchFamily="18" charset="0"/>
                <a:ea typeface="Cambria" panose="02040503050406030204" pitchFamily="18" charset="0"/>
              </a:rPr>
              <a:t>-optimized 12-bit Shannon LUT (shannon_lut12.v, 4,096 words), achieving a 93.75% memory reduction while maintaining steep QRS slope amplification.</a:t>
            </a:r>
          </a:p>
        </p:txBody>
      </p:sp>
      <p:sp>
        <p:nvSpPr>
          <p:cNvPr id="23" name="Rounded Rectangle 14">
            <a:extLst>
              <a:ext uri="{FF2B5EF4-FFF2-40B4-BE49-F238E27FC236}">
                <a16:creationId xmlns:a16="http://schemas.microsoft.com/office/drawing/2014/main" id="{3B6FC506-0142-ED4B-5B22-B94D7C19FAC6}"/>
              </a:ext>
            </a:extLst>
          </p:cNvPr>
          <p:cNvSpPr/>
          <p:nvPr/>
        </p:nvSpPr>
        <p:spPr>
          <a:xfrm>
            <a:off x="685800" y="4343399"/>
            <a:ext cx="2926080" cy="323491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sz="1200" dirty="0">
                <a:latin typeface="Cambria" panose="02040503050406030204" pitchFamily="18" charset="0"/>
                <a:ea typeface="Cambria" panose="02040503050406030204" pitchFamily="18" charset="0"/>
              </a:rPr>
              <a:t>GAP 4: ABSENCE OF ON-CHIP ARRHYTHMIA CLASSIFICATION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AD306F-E026-548D-B4CE-9AF19EEF0A21}"/>
              </a:ext>
            </a:extLst>
          </p:cNvPr>
          <p:cNvSpPr txBox="1"/>
          <p:nvPr/>
        </p:nvSpPr>
        <p:spPr>
          <a:xfrm>
            <a:off x="3749039" y="4325112"/>
            <a:ext cx="7772400" cy="764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rPr sz="1200" dirty="0">
                <a:latin typeface="Cambria" panose="02040503050406030204" pitchFamily="18" charset="0"/>
                <a:ea typeface="Cambria" panose="02040503050406030204" pitchFamily="18" charset="0"/>
              </a:rPr>
              <a:t>•  Traditional hardware detectors (Kumar 2018, Saini 2021, Chen 2022) terminate at raw R-peak timestamps with 0% arrhythmia classification (no RR-interval or BPM diagnostic intelligence).</a:t>
            </a:r>
          </a:p>
          <a:p>
            <a:pPr>
              <a:defRPr sz="819" b="1">
                <a:solidFill>
                  <a:srgbClr val="059669"/>
                </a:solidFill>
                <a:latin typeface="Segoe UI"/>
              </a:defRPr>
            </a:pPr>
            <a:r>
              <a:rPr sz="1200" dirty="0">
                <a:latin typeface="Cambria" panose="02040503050406030204" pitchFamily="18" charset="0"/>
                <a:ea typeface="Cambria" panose="02040503050406030204" pitchFamily="18" charset="0"/>
              </a:rPr>
              <a:t>Proposed Solution: Integrated real-time diagnostic classifier (</a:t>
            </a:r>
            <a:r>
              <a:rPr sz="1200" dirty="0" err="1">
                <a:latin typeface="Cambria" panose="02040503050406030204" pitchFamily="18" charset="0"/>
                <a:ea typeface="Cambria" panose="02040503050406030204" pitchFamily="18" charset="0"/>
              </a:rPr>
              <a:t>rr_classifier.v</a:t>
            </a:r>
            <a:r>
              <a:rPr sz="1200" dirty="0">
                <a:latin typeface="Cambria" panose="02040503050406030204" pitchFamily="18" charset="0"/>
                <a:ea typeface="Cambria" panose="02040503050406030204" pitchFamily="18" charset="0"/>
              </a:rPr>
              <a:t>) providing cycle-accurate RR tracking, BPM calculation, and 3-class diagnosis (Normal, Bradycardia, Tachycardia).</a:t>
            </a:r>
          </a:p>
        </p:txBody>
      </p:sp>
      <p:sp>
        <p:nvSpPr>
          <p:cNvPr id="27" name="Rounded Rectangle 17">
            <a:extLst>
              <a:ext uri="{FF2B5EF4-FFF2-40B4-BE49-F238E27FC236}">
                <a16:creationId xmlns:a16="http://schemas.microsoft.com/office/drawing/2014/main" id="{D74A3A65-7CD3-9FFA-F2F1-577788477592}"/>
              </a:ext>
            </a:extLst>
          </p:cNvPr>
          <p:cNvSpPr/>
          <p:nvPr/>
        </p:nvSpPr>
        <p:spPr>
          <a:xfrm>
            <a:off x="685800" y="5349240"/>
            <a:ext cx="2926080" cy="32349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sz="1200" dirty="0">
                <a:latin typeface="Cambria" panose="02040503050406030204" pitchFamily="18" charset="0"/>
                <a:ea typeface="Cambria" panose="02040503050406030204" pitchFamily="18" charset="0"/>
              </a:rPr>
              <a:t>GAP 5: SEVERE LATENCY &amp; OS OVERHEAD IN ML/CNNs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ACDD27-60C2-AF4F-EEB3-1E21D6F69A8B}"/>
              </a:ext>
            </a:extLst>
          </p:cNvPr>
          <p:cNvSpPr txBox="1"/>
          <p:nvPr/>
        </p:nvSpPr>
        <p:spPr>
          <a:xfrm>
            <a:off x="3749039" y="5330952"/>
            <a:ext cx="7985456" cy="764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rPr sz="1200" dirty="0">
                <a:latin typeface="Cambria" panose="02040503050406030204" pitchFamily="18" charset="0"/>
                <a:ea typeface="Cambria" panose="02040503050406030204" pitchFamily="18" charset="0"/>
              </a:rPr>
              <a:t>•  Recent ML/CNN FPGA implementations (Nandini 2025, Aruna 2023, Ran 2022) exhibit extreme latency (0.723 s to 15 s) and burn up to 443M CPU cycles on ARM hosts, precluding real-time streaming.</a:t>
            </a:r>
          </a:p>
          <a:p>
            <a:pPr>
              <a:defRPr sz="819" b="1">
                <a:solidFill>
                  <a:srgbClr val="059669"/>
                </a:solidFill>
                <a:latin typeface="Segoe UI"/>
              </a:defRPr>
            </a:pPr>
            <a:r>
              <a:rPr sz="1200" dirty="0">
                <a:latin typeface="Cambria" panose="02040503050406030204" pitchFamily="18" charset="0"/>
                <a:ea typeface="Cambria" panose="02040503050406030204" pitchFamily="18" charset="0"/>
              </a:rPr>
              <a:t>Proposed Solution: Pure digital RTL pipeline operating at 10 ns streaming clock latency with 0 CPU instructions and micro-watt power efficiency.</a:t>
            </a:r>
          </a:p>
        </p:txBody>
      </p:sp>
    </p:spTree>
    <p:extLst>
      <p:ext uri="{BB962C8B-B14F-4D97-AF65-F5344CB8AC3E}">
        <p14:creationId xmlns:p14="http://schemas.microsoft.com/office/powerpoint/2010/main" val="1460966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68FDEE-E0B9-EB10-19BA-002646FFA4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436"/>
          <a:stretch>
            <a:fillRect/>
          </a:stretch>
        </p:blipFill>
        <p:spPr>
          <a:xfrm>
            <a:off x="970403" y="1180172"/>
            <a:ext cx="10251193" cy="49249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5560FD-CCF5-0128-E1CE-0CD66AC7D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081D38-37CC-0217-AE0E-49E033BE46CF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B1E391-2020-1D34-A342-89F785470E31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Implementation Details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3B537758-887B-CE1C-BEC1-770F32382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2">
                <a:extLst>
                  <a:ext uri="{FF2B5EF4-FFF2-40B4-BE49-F238E27FC236}">
                    <a16:creationId xmlns:a16="http://schemas.microsoft.com/office/drawing/2014/main" id="{B9AD7EA2-D506-BC03-1758-8DF90AF2B7BE}"/>
                  </a:ext>
                </a:extLst>
              </p:cNvPr>
              <p:cNvSpPr txBox="1"/>
              <p:nvPr/>
            </p:nvSpPr>
            <p:spPr>
              <a:xfrm>
                <a:off x="640080" y="1325880"/>
                <a:ext cx="10881360" cy="4937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spcAft>
                    <a:spcPts val="800"/>
                  </a:spcAft>
                  <a:buSzPct val="100000"/>
                </a:pPr>
                <a:r>
                  <a:rPr lang="en-US" sz="2000" b="1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Calibri" pitchFamily="34" charset="-120"/>
                  </a:rPr>
                  <a:t>Modules developed and integrated:</a:t>
                </a:r>
              </a:p>
              <a:p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Module 1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: ”</a:t>
                </a:r>
                <a:r>
                  <a:rPr lang="en-IN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baseline_filter.v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” (Front-End Baseline Wander &amp; Noise Suppression)</a:t>
                </a: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Function: Lightweight causal 3-tap low-pass smoothing filter.</a:t>
                </a: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Equation: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IN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I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IN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≪1</m:t>
                            </m:r>
                          </m:e>
                        </m:d>
                        <m:r>
                          <a:rPr lang="en-I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≫2</m:t>
                    </m:r>
                  </m:oMath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Hardware Implementation: Multiplier-less bit-shifts and additions; removes 50/60 Hz powerline interference and high-frequency EMG muscle noise.</a:t>
                </a:r>
              </a:p>
              <a:p>
                <a:pPr lvl="0"/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Module 2: ”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pow2_normalizer.v” (Power-of-2 Automatic Gain Control - Zero Dividers)</a:t>
                </a: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Function: Replaces the power-hungry 24-bit live hardware divider (</a:t>
                </a:r>
                <a:r>
                  <a:rPr lang="en-IN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normalizer_div.v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).</a:t>
                </a: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Equation: 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Scale Factor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d>
                          <m:dPr>
                            <m:begChr m:val="⌊"/>
                            <m:endChr m:val="⌋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IN" i="0">
                                    <a:latin typeface="Cambria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IN" i="0">
                                    <a:latin typeface="Cambria" panose="02040503050406030204" pitchFamily="18" charset="0"/>
                                    <a:ea typeface="Cambria" panose="02040503050406030204" pitchFamily="18" charset="0"/>
                                  </a:rPr>
                                  <m:t>Peak Envelope</m:t>
                                </m:r>
                              </m:e>
                            </m:d>
                          </m:e>
                        </m:d>
                      </m:sup>
                    </m:sSup>
                  </m:oMath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Hardware Implementation: Tracks the running signal maximum envelope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max</m:t>
                    </m:r>
                    <m:r>
                      <m:rPr>
                        <m:lit/>
                        <m:nor/>
                      </m:rPr>
                      <a:rPr lang="en-IN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_</m:t>
                    </m:r>
                    <m:r>
                      <m:rPr>
                        <m:nor/>
                      </m:rPr>
                      <a:rPr lang="en-IN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mag</m:t>
                    </m:r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) and derives the Most Significant Bit position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max</m:t>
                    </m:r>
                    <m:r>
                      <m:rPr>
                        <m:lit/>
                        <m:nor/>
                      </m:rPr>
                      <a:rPr lang="en-IN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_</m:t>
                    </m:r>
                    <m:r>
                      <m:rPr>
                        <m:nor/>
                      </m:rPr>
                      <a:rPr lang="en-IN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msb</m:t>
                    </m:r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). Normalization is achieved through a dynamic barrel shifter: 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data</m:t>
                    </m:r>
                    <m:r>
                      <m:rPr>
                        <m:lit/>
                        <m:nor/>
                      </m:rPr>
                      <a:rPr lang="en-IN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_</m:t>
                    </m:r>
                    <m:r>
                      <m:rPr>
                        <m:nor/>
                      </m:rPr>
                      <a:rPr lang="en-IN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out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mag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≫</m:t>
                    </m:r>
                    <m:d>
                      <m:dPr>
                        <m:ctrlPr>
                          <a:rPr lang="en-IN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max</m:t>
                        </m:r>
                        <m:r>
                          <m:rPr>
                            <m:lit/>
                            <m:nor/>
                          </m:rPr>
                          <a:rPr lang="en-IN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IN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msb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IN" i="0">
                                <a:latin typeface="Cambria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IN" i="0">
                                <a:latin typeface="Cambria" panose="02040503050406030204" pitchFamily="18" charset="0"/>
                                <a:ea typeface="Cambria" panose="02040503050406030204" pitchFamily="18" charset="0"/>
                              </a:rPr>
                              <m:t>OUT</m:t>
                            </m:r>
                            <m:r>
                              <m:rPr>
                                <m:lit/>
                                <m:nor/>
                              </m:rPr>
                              <a:rPr lang="en-IN" i="0">
                                <a:latin typeface="Cambria" panose="02040503050406030204" pitchFamily="18" charset="0"/>
                                <a:ea typeface="Cambria" panose="02040503050406030204" pitchFamily="18" charset="0"/>
                              </a:rPr>
                              <m:t>_</m:t>
                            </m:r>
                            <m:r>
                              <m:rPr>
                                <m:nor/>
                              </m:rPr>
                              <a:rPr lang="en-IN" i="0">
                                <a:latin typeface="Cambria" panose="02040503050406030204" pitchFamily="18" charset="0"/>
                                <a:ea typeface="Cambria" panose="02040503050406030204" pitchFamily="18" charset="0"/>
                              </a:rPr>
                              <m:t>W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Impact: 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−100%</m:t>
                    </m:r>
                  </m:oMath>
                </a14:m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 hardware dividers eliminated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saving ~1,500 logic gates per instance.</a:t>
                </a:r>
              </a:p>
              <a:p>
                <a:endParaRPr lang="en-IN" sz="1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 2">
                <a:extLst>
                  <a:ext uri="{FF2B5EF4-FFF2-40B4-BE49-F238E27FC236}">
                    <a16:creationId xmlns:a16="http://schemas.microsoft.com/office/drawing/2014/main" id="{B9AD7EA2-D506-BC03-1758-8DF90AF2B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325880"/>
                <a:ext cx="10881360" cy="4937760"/>
              </a:xfrm>
              <a:prstGeom prst="rect">
                <a:avLst/>
              </a:prstGeom>
              <a:blipFill>
                <a:blip r:embed="rId4"/>
                <a:stretch>
                  <a:fillRect l="-1401" t="-1605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4611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Implementation Details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2"/>
              <p:cNvSpPr txBox="1"/>
              <p:nvPr/>
            </p:nvSpPr>
            <p:spPr>
              <a:xfrm>
                <a:off x="655320" y="1173773"/>
                <a:ext cx="10881360" cy="4937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spcAft>
                    <a:spcPts val="800"/>
                  </a:spcAft>
                  <a:buSzPct val="100000"/>
                </a:pPr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Module 3: ”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shannon_lut12.v” (12-bit Shannon Energy ROM Transform)</a:t>
                </a: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Function: Computes nonlinear Shannon entropy to amplify steep QRS slopes while suppressing wide P and T waves.</a:t>
                </a: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Equation: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,"/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Hardware Implementation: Direct-addressed 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4096×12</m:t>
                    </m:r>
                    <m:r>
                      <m:rPr>
                        <m:nor/>
                      </m:rPr>
                      <a:rPr lang="en-IN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−bit</m:t>
                    </m:r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 Look-Up Table ROM (shannon_lut12.hex). Pruned from 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65,536</m:t>
                    </m:r>
                    <m:r>
                      <m:rPr>
                        <m:nor/>
                      </m:rPr>
                      <a:rPr lang="en-IN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 words</m:t>
                    </m:r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 (16-bit) down to 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4,096</m:t>
                    </m:r>
                    <m:r>
                      <m:rPr>
                        <m:nor/>
                      </m:rPr>
                      <a:rPr lang="en-IN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 words</m:t>
                    </m:r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 (12-bit), achieving a 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93.75%</m:t>
                    </m:r>
                  </m:oMath>
                </a14:m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 memory footprint reduction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Module 4: ”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square10.v” (10-bit Operand-Isolated Squarer)</a:t>
                </a: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Function: Computes instantaneous energy envelope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Hardware Implementation: 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nor/>
                      </m:rPr>
                      <a:rPr lang="en-IN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−bit</m:t>
                    </m:r>
                    <m:r>
                      <a:rPr lang="en-IN">
                        <a:latin typeface="Cambria Math" panose="02040503050406030204" pitchFamily="18" charset="0"/>
                      </a:rPr>
                      <m:t>×10</m:t>
                    </m:r>
                    <m:r>
                      <m:rPr>
                        <m:nor/>
                      </m:rPr>
                      <a:rPr lang="en-IN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−bit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→20</m:t>
                    </m:r>
                    <m:r>
                      <m:rPr>
                        <m:nor/>
                      </m:rPr>
                      <a:rPr lang="en-IN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−bit product</m:t>
                    </m:r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 Equipped with </a:t>
                </a:r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Operand Isolation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: 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op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ISOLATE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m:rPr>
                            <m:nor/>
                          </m:rPr>
                          <a:rPr lang="en-IN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in</m:t>
                        </m:r>
                        <m:r>
                          <m:rPr>
                            <m:lit/>
                            <m:nor/>
                          </m:rPr>
                          <a:rPr lang="en-IN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IN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valid</m:t>
                        </m:r>
                      </m:e>
                    </m:d>
                    <m:r>
                      <m:rPr>
                        <m:nor/>
                      </m:rPr>
                      <a:rPr lang="en-IN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a:rPr lang="en-IN">
                        <a:latin typeface="Cambria Math" panose="02040503050406030204" pitchFamily="18" charset="0"/>
                      </a:rPr>
                      <m:t>?</m:t>
                    </m:r>
                    <m:r>
                      <m:rPr>
                        <m:nor/>
                      </m:rPr>
                      <a:rPr lang="en-IN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 data</m:t>
                    </m:r>
                    <m:r>
                      <m:rPr>
                        <m:lit/>
                        <m:nor/>
                      </m:rPr>
                      <a:rPr lang="en-IN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_</m:t>
                    </m:r>
                    <m:r>
                      <m:rPr>
                        <m:nor/>
                      </m:rPr>
                      <a:rPr lang="en-IN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in </m:t>
                    </m:r>
                    <m:r>
                      <a:rPr lang="en-IN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IN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nor/>
                      </m:rPr>
                      <a:rPr lang="en-IN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’b0</m:t>
                    </m:r>
                  </m:oMath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Impact: Prevents internal adder-tree switching when no valid ECG sample is present, </a:t>
                </a:r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eliminating dynamic glitching power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spcAft>
                    <a:spcPts val="800"/>
                  </a:spcAft>
                  <a:buSzPct val="100000"/>
                </a:pPr>
                <a:endParaRPr lang="en-US" dirty="0"/>
              </a:p>
            </p:txBody>
          </p:sp>
        </mc:Choice>
        <mc:Fallback xmlns="">
          <p:sp>
            <p:nvSpPr>
              <p:cNvPr id="5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" y="1173773"/>
                <a:ext cx="10881360" cy="4937760"/>
              </a:xfrm>
              <a:prstGeom prst="rect">
                <a:avLst/>
              </a:prstGeom>
              <a:blipFill>
                <a:blip r:embed="rId4"/>
                <a:stretch>
                  <a:fillRect l="-1345" t="-1728" r="-1681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0DA393-8B9E-F8EE-CE51-731D96203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5B1E1F-BB85-5668-8534-563DB12C6FE9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7B0C99-96CE-38BB-88DD-52C0313FE308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Implementation Details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69846561-2D77-193F-8E24-852FF16A0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2">
                <a:extLst>
                  <a:ext uri="{FF2B5EF4-FFF2-40B4-BE49-F238E27FC236}">
                    <a16:creationId xmlns:a16="http://schemas.microsoft.com/office/drawing/2014/main" id="{4782F2ED-000C-A420-3ABE-43CE1731BFB7}"/>
                  </a:ext>
                </a:extLst>
              </p:cNvPr>
              <p:cNvSpPr txBox="1"/>
              <p:nvPr/>
            </p:nvSpPr>
            <p:spPr>
              <a:xfrm>
                <a:off x="640080" y="1325880"/>
                <a:ext cx="10881360" cy="4937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Module 5: ”</a:t>
                </a:r>
                <a:r>
                  <a:rPr lang="en-IN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schmitt_peak_detector.v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” (Adaptive Dual-Hysteresis Detector)</a:t>
                </a: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Function: Dynamic QRS thresholding that continuously tracks baseline drift and amplitude variations.</a:t>
                </a: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Algorithm: Maintains an 8-beat rolling history buffer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hist</m:t>
                    </m:r>
                    <m:d>
                      <m:dPr>
                        <m:begChr m:val="["/>
                        <m:endChr m:val="]"/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0..7</m:t>
                        </m:r>
                      </m:e>
                    </m:d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) of verified peak amplitudes and computes dual hysteresis thresholds: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th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=0.75×</m:t>
                    </m:r>
                    <m:func>
                      <m:func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IN" i="0">
                                <a:latin typeface="Cambria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IN" i="0">
                                <a:latin typeface="Cambria" panose="02040503050406030204" pitchFamily="18" charset="0"/>
                                <a:ea typeface="Cambria" panose="02040503050406030204" pitchFamily="18" charset="0"/>
                              </a:rPr>
                              <m:t>history</m:t>
                            </m:r>
                          </m:e>
                        </m:d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</m:e>
                    </m:func>
                    <m:sSub>
                      <m:sSubPr>
                        <m:ctrlPr>
                          <a:rPr lang="en-IN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th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=0.50×</m:t>
                    </m:r>
                    <m:func>
                      <m:func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IN" i="0">
                                <a:latin typeface="Cambria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IN" i="0">
                                <a:latin typeface="Cambria" panose="02040503050406030204" pitchFamily="18" charset="0"/>
                                <a:ea typeface="Cambria" panose="02040503050406030204" pitchFamily="18" charset="0"/>
                              </a:rPr>
                              <m:t>history</m:t>
                            </m:r>
                          </m:e>
                        </m:d>
                      </m:e>
                    </m:func>
                  </m:oMath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Arming: When energy rises above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th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the state machine enters candidate tracking.</a:t>
                </a: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Confirmation: Peak is validated when energy falls below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th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lvl="0"/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Module 6: ”</a:t>
                </a:r>
                <a:r>
                  <a:rPr lang="en-IN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search_back.v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” (Search-Back Rescue &amp; Zero Suppression)</a:t>
                </a: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Function: Prevents false negatives (missed beats) during abnormal morphology or ventricular arrhythmias.</a:t>
                </a: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Algorithm: If no R-peak is triggered within 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1.5×</m:t>
                    </m:r>
                    <m:sSub>
                      <m:sSubPr>
                        <m:ctrlPr>
                          <a:rPr lang="en-IN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RR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avg</m:t>
                        </m:r>
                      </m:sub>
                    </m:sSub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a rescue threshold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th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rescue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=0.5×</m:t>
                    </m:r>
                    <m:sSub>
                      <m:sSubPr>
                        <m:ctrlPr>
                          <a:rPr lang="en-IN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i="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th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) is applied to recover the intermediate candidate peak. Includes zero-energy gating to prevent false triggers during signal pauses.</a:t>
                </a:r>
              </a:p>
            </p:txBody>
          </p:sp>
        </mc:Choice>
        <mc:Fallback xmlns="">
          <p:sp>
            <p:nvSpPr>
              <p:cNvPr id="5" name="Text 2">
                <a:extLst>
                  <a:ext uri="{FF2B5EF4-FFF2-40B4-BE49-F238E27FC236}">
                    <a16:creationId xmlns:a16="http://schemas.microsoft.com/office/drawing/2014/main" id="{4782F2ED-000C-A420-3ABE-43CE1731B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325880"/>
                <a:ext cx="10881360" cy="4937760"/>
              </a:xfrm>
              <a:prstGeom prst="rect">
                <a:avLst/>
              </a:prstGeom>
              <a:blipFill>
                <a:blip r:embed="rId4"/>
                <a:stretch>
                  <a:fillRect l="-1289" t="-1728" r="-1625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1384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D27EC8-447F-F065-D01E-D955F047F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3EB4D8-C906-960E-45AF-43CF00DC54DA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6579E3-D9B7-4E63-2396-82666EA5E092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Implementation Details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91294278-AF11-8547-4DDD-A266A3760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2">
                <a:extLst>
                  <a:ext uri="{FF2B5EF4-FFF2-40B4-BE49-F238E27FC236}">
                    <a16:creationId xmlns:a16="http://schemas.microsoft.com/office/drawing/2014/main" id="{807471C3-08C5-FDDF-CA31-A79F9344AE54}"/>
                  </a:ext>
                </a:extLst>
              </p:cNvPr>
              <p:cNvSpPr txBox="1"/>
              <p:nvPr/>
            </p:nvSpPr>
            <p:spPr>
              <a:xfrm>
                <a:off x="640080" y="1325880"/>
                <a:ext cx="10881360" cy="4937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spcAft>
                    <a:spcPts val="800"/>
                  </a:spcAft>
                  <a:buSzPct val="100000"/>
                </a:pPr>
                <a:r>
                  <a:rPr lang="en-US" sz="2000" b="1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Calibri" pitchFamily="34" charset="-120"/>
                  </a:rPr>
                  <a:t>Algorithms implemented:</a:t>
                </a:r>
              </a:p>
              <a:p>
                <a:pPr>
                  <a:spcAft>
                    <a:spcPts val="800"/>
                  </a:spcAft>
                  <a:buSzPct val="100000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This architecture implements a hardware-optimized Wavelet Transform / Shannon Energy Envelope (WTSEE) pipeline for real-time ECG QRS detection and cardiac rhythm classification. The pipeline begins with a causal 3-tap FIR smoothing filter (</a:t>
                </a:r>
                <a:r>
                  <a:rPr lang="en-IN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baseline_filter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) and first-difference differentiator to suppress baseline wander while highlighting steep QRS slopes. It then applies </a:t>
                </a:r>
                <a:r>
                  <a:rPr lang="en-IN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bitwidth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-optimized, </a:t>
                </a:r>
                <a:r>
                  <a:rPr lang="en-IN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dividerless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 power-of-two normalization (pow2_normalizer) feeding a 12-bit Shannon Energy lookup table (shannon_lut12) and moving-window integration (moving_sum12), followed by a second differentiation-squaring stage to produce a robust Peak Energy Envelope (PEE). Reliable R-peak extraction is achieved via an adaptive dual-threshold Schmitt trigger (</a:t>
                </a:r>
                <a:r>
                  <a:rPr lang="en-IN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schmitt_peak_detector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) with refractory blanking coupled to a Pan-Tompkins style search-back algorithm (</a:t>
                </a:r>
                <a:r>
                  <a:rPr lang="en-IN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search_back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) that rescues missed beats during prolonged RR gaps without triggering on flatlines. Finally, an RR-interval classifier (</a:t>
                </a:r>
                <a:r>
                  <a:rPr lang="en-IN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rr_classifier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) uses an area-efficient 16-cycle restoring divider to compute exact beats per minute (BPM) and classify rhythms into Normal Sinus Rhythm (NSR), Bradycardia (</a:t>
                </a:r>
                <a14:m>
                  <m:oMath xmlns:m="http://schemas.openxmlformats.org/officeDocument/2006/math">
                    <m:r>
                      <a:rPr lang="en-IN" b="0"/>
                      <m:t>&lt;</m:t>
                    </m:r>
                    <m:r>
                      <a:rPr lang="en-IN" b="0" i="1"/>
                      <m:t>60</m:t>
                    </m:r>
                    <m:r>
                      <m:rPr>
                        <m:nor/>
                      </m:rPr>
                      <a:rPr lang="en-IN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 BPM</m:t>
                    </m:r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), or Tachycardia (</a:t>
                </a:r>
                <a14:m>
                  <m:oMath xmlns:m="http://schemas.openxmlformats.org/officeDocument/2006/math">
                    <m:r>
                      <a:rPr lang="en-IN" b="0"/>
                      <m:t>&gt;</m:t>
                    </m:r>
                    <m:r>
                      <a:rPr lang="en-IN" b="0" i="1"/>
                      <m:t>100</m:t>
                    </m:r>
                    <m:r>
                      <m:rPr>
                        <m:nor/>
                      </m:rPr>
                      <a:rPr lang="en-IN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 BPM</m:t>
                    </m:r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).</a:t>
                </a:r>
              </a:p>
              <a:p>
                <a:pPr>
                  <a:spcAft>
                    <a:spcPts val="800"/>
                  </a:spcAft>
                  <a:buSzPct val="100000"/>
                </a:pPr>
                <a:endParaRPr lang="en-US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5" name="Text 2">
                <a:extLst>
                  <a:ext uri="{FF2B5EF4-FFF2-40B4-BE49-F238E27FC236}">
                    <a16:creationId xmlns:a16="http://schemas.microsoft.com/office/drawing/2014/main" id="{807471C3-08C5-FDDF-CA31-A79F9344A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325880"/>
                <a:ext cx="10881360" cy="4937760"/>
              </a:xfrm>
              <a:prstGeom prst="rect">
                <a:avLst/>
              </a:prstGeom>
              <a:blipFill>
                <a:blip r:embed="rId4"/>
                <a:stretch>
                  <a:fillRect l="-1401" t="-1605" r="-1289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1511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C2ABE2-324D-3897-2489-6D5FE09D0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806161-B49C-8A6C-E086-D00E807809FA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6F942F-E8C8-4270-819A-2391A2452700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Implementation Details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129F9C7A-BAD9-A600-ACFA-CE1291886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66ED8E28-A8DB-04EF-BA42-7B29129CEE33}"/>
              </a:ext>
            </a:extLst>
          </p:cNvPr>
          <p:cNvSpPr txBox="1"/>
          <p:nvPr/>
        </p:nvSpPr>
        <p:spPr>
          <a:xfrm>
            <a:off x="548640" y="9601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r>
              <a:rPr lang="en-US" sz="2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Code snippets :</a:t>
            </a:r>
          </a:p>
          <a:p>
            <a:pPr marL="457200" indent="-457200">
              <a:spcAft>
                <a:spcPts val="800"/>
              </a:spcAft>
              <a:buSzPct val="100000"/>
              <a:buAutoNum type="alphaLcParenR"/>
            </a:pPr>
            <a:r>
              <a:rPr lang="en-US" sz="2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Top module for board</a:t>
            </a:r>
          </a:p>
          <a:p>
            <a:pPr>
              <a:spcAft>
                <a:spcPts val="800"/>
              </a:spcAft>
              <a:buSzPct val="100000"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5AE77-5C38-12D4-58DC-E549CDDD3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027" y="1707008"/>
            <a:ext cx="8164621" cy="483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610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AC8ACD-A0F3-8878-1EAD-6E8D86867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C12594-E0DD-1645-E28B-ED9426F19584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16E70D6-EE8C-1B7A-290F-C58433C1F421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Implementation Details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744EE859-C161-1F68-CEAF-2BE3B71AC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02D33E4F-B498-DD61-5FB4-5347839FD41D}"/>
              </a:ext>
            </a:extLst>
          </p:cNvPr>
          <p:cNvSpPr txBox="1"/>
          <p:nvPr/>
        </p:nvSpPr>
        <p:spPr>
          <a:xfrm>
            <a:off x="548640" y="9601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spcAft>
                <a:spcPts val="800"/>
              </a:spcAft>
              <a:buSzPct val="100000"/>
              <a:buAutoNum type="alphaLcParenR"/>
            </a:pPr>
            <a:r>
              <a:rPr lang="en-US" sz="2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Top module for FPGA board</a:t>
            </a:r>
          </a:p>
          <a:p>
            <a:pPr>
              <a:spcAft>
                <a:spcPts val="800"/>
              </a:spcAft>
              <a:buSzPct val="100000"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D1EED2-7F94-2A52-5D98-1058D0CF4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984" y="1360846"/>
            <a:ext cx="9173911" cy="542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37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65D116-2848-21EB-E916-975BC19F5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2C69FA-6387-7667-5B75-72F07BAA9F03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620E42-5EDD-9CFE-BCA8-2D8EC8718FBC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Implementation Details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3E7B0219-F149-C9FF-4296-71FA90778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C951DA78-0A7F-DFFF-E3AE-E470F193FC51}"/>
              </a:ext>
            </a:extLst>
          </p:cNvPr>
          <p:cNvSpPr txBox="1"/>
          <p:nvPr/>
        </p:nvSpPr>
        <p:spPr>
          <a:xfrm>
            <a:off x="548640" y="9601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spcAft>
                <a:spcPts val="800"/>
              </a:spcAft>
              <a:buSzPct val="100000"/>
              <a:buAutoNum type="alphaLcParenR"/>
            </a:pPr>
            <a:r>
              <a:rPr lang="en-US" sz="2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Top module for FPGA board</a:t>
            </a:r>
          </a:p>
          <a:p>
            <a:pPr>
              <a:spcAft>
                <a:spcPts val="800"/>
              </a:spcAft>
              <a:buSzPct val="100000"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20423A-7598-7CF0-9D63-C4A58D9B6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776" y="1445824"/>
            <a:ext cx="8915119" cy="527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485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77590-368B-C26B-F430-C4E2AEBDC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B48FD42-D875-BFFE-32FE-CF32AACD8746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7C84CEC-D4B5-95B7-3F7B-361EE4C2853D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Implementation Details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2B9A9E68-8F54-77C8-2334-E0305DBE5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387D965E-B1A8-C4A3-84AD-C82856527164}"/>
              </a:ext>
            </a:extLst>
          </p:cNvPr>
          <p:cNvSpPr txBox="1"/>
          <p:nvPr/>
        </p:nvSpPr>
        <p:spPr>
          <a:xfrm>
            <a:off x="548640" y="9601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spcAft>
                <a:spcPts val="800"/>
              </a:spcAft>
              <a:buSzPct val="100000"/>
              <a:buAutoNum type="alphaLcParenR"/>
            </a:pPr>
            <a:r>
              <a:rPr lang="en-US" sz="2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Top module for FPGA board</a:t>
            </a:r>
          </a:p>
          <a:p>
            <a:pPr>
              <a:spcAft>
                <a:spcPts val="800"/>
              </a:spcAft>
              <a:buSzPct val="100000"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5E194F-355F-DE6D-9AA3-808F2B803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778" y="1377084"/>
            <a:ext cx="9031294" cy="534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208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5DC83E-F45C-91D3-B5CA-7E1C1C5DE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DE10FB-236B-9573-66C4-E5FB0EE9D218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977142-7BC4-A946-D4CB-14E564777801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Implementation Details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940C2F39-29DF-FA8F-59F2-5C12786E1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89225976-323B-B9E5-1CC4-D45FF2510371}"/>
              </a:ext>
            </a:extLst>
          </p:cNvPr>
          <p:cNvSpPr txBox="1"/>
          <p:nvPr/>
        </p:nvSpPr>
        <p:spPr>
          <a:xfrm>
            <a:off x="548640" y="9601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spcAft>
                <a:spcPts val="800"/>
              </a:spcAft>
              <a:buSzPct val="100000"/>
              <a:buAutoNum type="alphaLcParenR"/>
            </a:pPr>
            <a:r>
              <a:rPr lang="en-US" sz="2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Top module for FPGA board</a:t>
            </a:r>
          </a:p>
          <a:p>
            <a:pPr>
              <a:spcAft>
                <a:spcPts val="800"/>
              </a:spcAft>
              <a:buSzPct val="100000"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ACBF97-2827-32E0-0983-C350D60283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720" y="1127174"/>
            <a:ext cx="9320560" cy="551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403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8D52F-D2B0-2BE2-02CB-7AB24A77A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045E37A-3AE8-A3FE-8FED-EF8D6632945C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61DCDA-978F-CAA7-2B82-E0CE8E67ED46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Implementation Details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EAF07A95-89F2-52D4-CB3A-12CCCA794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6C2CC254-A73E-86C6-4D93-6D9A0759A766}"/>
              </a:ext>
            </a:extLst>
          </p:cNvPr>
          <p:cNvSpPr txBox="1"/>
          <p:nvPr/>
        </p:nvSpPr>
        <p:spPr>
          <a:xfrm>
            <a:off x="548640" y="9601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r>
              <a:rPr lang="en-US" sz="2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b) Baseline filter</a:t>
            </a:r>
          </a:p>
          <a:p>
            <a:pPr>
              <a:spcAft>
                <a:spcPts val="800"/>
              </a:spcAft>
              <a:buSzPct val="100000"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67C470-8ABE-4D27-EE55-55FBC550C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232" y="1394832"/>
            <a:ext cx="7128015" cy="546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305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C7BBDC-4225-08F4-0709-8B4773707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2281FDF-0E22-6784-AFBD-5BEE5B6DFD4B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15FA74-1B28-AE01-EBDB-9BB3759F97F3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Implementation Details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854D3296-CADB-AB87-D7EA-D4CC261DF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C17D0D8A-C897-0B88-EE50-6743C320604C}"/>
              </a:ext>
            </a:extLst>
          </p:cNvPr>
          <p:cNvSpPr txBox="1"/>
          <p:nvPr/>
        </p:nvSpPr>
        <p:spPr>
          <a:xfrm>
            <a:off x="548640" y="9601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r>
              <a:rPr lang="en-US" sz="2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c) First Difference</a:t>
            </a:r>
          </a:p>
          <a:p>
            <a:pPr>
              <a:spcAft>
                <a:spcPts val="800"/>
              </a:spcAft>
              <a:buSzPct val="100000"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CAAA3C-A117-3B5A-71D3-D71F9F189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6301" y="1289046"/>
            <a:ext cx="7266038" cy="556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924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0E9D13-4011-56EE-9F06-2E187A950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A5874FA-7777-8156-1F12-60DCC19F7510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5BDAAF-ECD7-2428-6365-AB3FD85D8AE9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Implementation Details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46531CEB-246A-E173-12A7-0F180F29A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FD993C38-D755-E957-2385-F934486952FB}"/>
              </a:ext>
            </a:extLst>
          </p:cNvPr>
          <p:cNvSpPr txBox="1"/>
          <p:nvPr/>
        </p:nvSpPr>
        <p:spPr>
          <a:xfrm>
            <a:off x="548640" y="9601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r>
              <a:rPr lang="en-US" sz="2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d) Power of 2 Normalizer</a:t>
            </a:r>
          </a:p>
          <a:p>
            <a:pPr>
              <a:spcAft>
                <a:spcPts val="800"/>
              </a:spcAft>
              <a:buSzPct val="100000"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8FA68A-FC99-70D1-821B-798E3A189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823" y="1353649"/>
            <a:ext cx="7757718" cy="523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880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BADCB7-7239-EC60-B48E-37F2DE79D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A40E4C-135B-0374-A7E6-C013D07BE7A7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6445AB-5B4B-17EA-193B-5BB394E6669E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Implementation Details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A427FAC1-0196-F252-E952-20BE28D3A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DA107CB1-090E-B968-83B4-41A82BC16C42}"/>
              </a:ext>
            </a:extLst>
          </p:cNvPr>
          <p:cNvSpPr txBox="1"/>
          <p:nvPr/>
        </p:nvSpPr>
        <p:spPr>
          <a:xfrm>
            <a:off x="548640" y="9601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r>
              <a:rPr lang="en-US" sz="2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e) Shannon LUT</a:t>
            </a:r>
          </a:p>
          <a:p>
            <a:pPr>
              <a:spcAft>
                <a:spcPts val="800"/>
              </a:spcAft>
              <a:buSzPct val="100000"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A7E08D-14FD-01C3-CEBD-88E92E69F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1110" y="1458116"/>
            <a:ext cx="6776496" cy="526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359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04230F-E110-DC01-DE10-F2D482CAE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D9DBC6-5C9B-9049-352C-0014D5EBCAF4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DFF64D-CE00-B2B2-4092-4C2760539CD3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Implementation Details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01A4EDDC-7FB8-58A7-3906-7DB16301B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C3F4CC5F-1F1E-EB26-31AC-387850384F25}"/>
              </a:ext>
            </a:extLst>
          </p:cNvPr>
          <p:cNvSpPr txBox="1"/>
          <p:nvPr/>
        </p:nvSpPr>
        <p:spPr>
          <a:xfrm>
            <a:off x="548640" y="9601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r>
              <a:rPr lang="en-US" sz="2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f) Moving Sum - 12</a:t>
            </a:r>
          </a:p>
          <a:p>
            <a:pPr>
              <a:spcAft>
                <a:spcPts val="800"/>
              </a:spcAft>
              <a:buSzPct val="100000"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8D8057-CA04-66B8-98C9-8D2358991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5946" y="1127174"/>
            <a:ext cx="7034874" cy="546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4786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1C370A-5F8E-594C-5014-05D6BDB3B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01B626-8F58-60A1-01B5-BB27F030809D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6FBD69-3F03-E7FF-A89E-9253D163DCE2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Implementation Details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0886161F-2236-13C5-5D47-49FAADFC3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0502320D-D122-42F0-30F0-049308E670DF}"/>
              </a:ext>
            </a:extLst>
          </p:cNvPr>
          <p:cNvSpPr txBox="1"/>
          <p:nvPr/>
        </p:nvSpPr>
        <p:spPr>
          <a:xfrm>
            <a:off x="548640" y="9601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r>
              <a:rPr lang="en-US" sz="2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g) Moving sum - 20</a:t>
            </a:r>
          </a:p>
          <a:p>
            <a:pPr>
              <a:spcAft>
                <a:spcPts val="800"/>
              </a:spcAft>
              <a:buSzPct val="100000"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236342-FD55-2033-508D-8AF55DE0C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7872" y="974498"/>
            <a:ext cx="7354378" cy="588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4295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312312-5B80-8B3E-82B3-4480D872E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6601A48-5341-EA6B-0DA7-DF200EB50F8D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32002E5-40DD-90E9-BAB0-494963920E8B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Implementation Details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CCB2F468-2A3A-4E81-F663-F1EDBB04F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CF0B8B14-E956-B371-64A9-C09566BFECC5}"/>
              </a:ext>
            </a:extLst>
          </p:cNvPr>
          <p:cNvSpPr txBox="1"/>
          <p:nvPr/>
        </p:nvSpPr>
        <p:spPr>
          <a:xfrm>
            <a:off x="548640" y="9601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r>
              <a:rPr lang="en-US" sz="2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h) Schmitt Peak detector</a:t>
            </a:r>
          </a:p>
          <a:p>
            <a:pPr>
              <a:spcAft>
                <a:spcPts val="800"/>
              </a:spcAft>
              <a:buSzPct val="100000"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0B49EE-DE45-C535-336F-C271F39BB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518" y="1357869"/>
            <a:ext cx="8999604" cy="518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5647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52F44E-1880-CDC7-BACC-DBB82D592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E0B6C65-7627-FBA4-24E4-0D8694FDE50A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19D259F-F5DD-DC1A-719F-B5DF96970ABC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Implementation Details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610D08D9-2BE3-7A9C-E781-8AD71F005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C36DB574-3EA2-4484-449A-94307378C976}"/>
              </a:ext>
            </a:extLst>
          </p:cNvPr>
          <p:cNvSpPr txBox="1"/>
          <p:nvPr/>
        </p:nvSpPr>
        <p:spPr>
          <a:xfrm>
            <a:off x="548640" y="9601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r>
              <a:rPr lang="en-US" sz="2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i) Search back</a:t>
            </a:r>
          </a:p>
          <a:p>
            <a:pPr>
              <a:spcAft>
                <a:spcPts val="800"/>
              </a:spcAft>
              <a:buSzPct val="100000"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3AADC5-0435-DE72-3F5E-E86BB40BA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174" y="1451374"/>
            <a:ext cx="9154880" cy="526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44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F28C08-B184-7155-FDF2-59D91E297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3729DE3-A9E2-4330-52D4-DCDE4F09838A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E3C16BC-47AE-6069-8EEC-EB066174B30F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Implementation Details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4F1684D8-2FE4-9EEF-D7DA-7D998D3E1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B9B31B6A-CCF5-C14A-3362-D9C8B9BA3BCF}"/>
              </a:ext>
            </a:extLst>
          </p:cNvPr>
          <p:cNvSpPr txBox="1"/>
          <p:nvPr/>
        </p:nvSpPr>
        <p:spPr>
          <a:xfrm>
            <a:off x="548640" y="9601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r>
              <a:rPr lang="en-US" sz="2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j) RR Classifier</a:t>
            </a:r>
          </a:p>
          <a:p>
            <a:pPr>
              <a:spcAft>
                <a:spcPts val="800"/>
              </a:spcAft>
              <a:buSzPct val="100000"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A5F2ED-7A04-A2BE-14CC-205012E69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9133" y="1288355"/>
            <a:ext cx="9120374" cy="524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834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8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Results &amp; Analysis (75%)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296715-5F14-2F33-D89E-65ABF3DCD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10" y="1292237"/>
            <a:ext cx="6872377" cy="51542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81093B-6973-CFF3-0B87-5A716880EBAB}"/>
              </a:ext>
            </a:extLst>
          </p:cNvPr>
          <p:cNvSpPr txBox="1"/>
          <p:nvPr/>
        </p:nvSpPr>
        <p:spPr>
          <a:xfrm>
            <a:off x="2553419" y="922905"/>
            <a:ext cx="2331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Bradycardia Indicator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FEE850-1FDF-D25C-945B-EFE88D7D8937}"/>
              </a:ext>
            </a:extLst>
          </p:cNvPr>
          <p:cNvSpPr txBox="1"/>
          <p:nvPr/>
        </p:nvSpPr>
        <p:spPr>
          <a:xfrm>
            <a:off x="4845904" y="929867"/>
            <a:ext cx="3210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Counter Which Wraps After 16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95652E-0433-43A8-59BD-E06AAAD1B9FE}"/>
              </a:ext>
            </a:extLst>
          </p:cNvPr>
          <p:cNvCxnSpPr>
            <a:cxnSpLocks/>
          </p:cNvCxnSpPr>
          <p:nvPr/>
        </p:nvCxnSpPr>
        <p:spPr>
          <a:xfrm>
            <a:off x="3616400" y="1223226"/>
            <a:ext cx="0" cy="87299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Left Brace 11">
            <a:extLst>
              <a:ext uri="{FF2B5EF4-FFF2-40B4-BE49-F238E27FC236}">
                <a16:creationId xmlns:a16="http://schemas.microsoft.com/office/drawing/2014/main" id="{D2D65E17-AC5A-03DD-CBEB-A5574F5D4AD7}"/>
              </a:ext>
            </a:extLst>
          </p:cNvPr>
          <p:cNvSpPr/>
          <p:nvPr/>
        </p:nvSpPr>
        <p:spPr>
          <a:xfrm rot="5400000">
            <a:off x="5009723" y="1513781"/>
            <a:ext cx="345049" cy="1107692"/>
          </a:xfrm>
          <a:prstGeom prst="leftBrac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2EDB0F-8D68-1AE2-1806-19533BF06DBB}"/>
              </a:ext>
            </a:extLst>
          </p:cNvPr>
          <p:cNvCxnSpPr>
            <a:cxnSpLocks/>
          </p:cNvCxnSpPr>
          <p:nvPr/>
        </p:nvCxnSpPr>
        <p:spPr>
          <a:xfrm>
            <a:off x="5339670" y="1292237"/>
            <a:ext cx="0" cy="50550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F4029E-135F-DA1F-5551-2D62DC9D6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30E9E1-38D6-E942-A0BF-49C2FA8DDD16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8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4EE2E60-59B7-4685-9652-3E7D3C9F51D2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Results &amp; Analysis (75%)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8D6CCE9E-11EB-FCA7-062C-B93781832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80CC76-1F6F-05C8-8AA4-82BDC5455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894" y="1218768"/>
            <a:ext cx="7467600" cy="5600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1BF4DD-071D-3F6E-EC86-9D8CF9CB843E}"/>
              </a:ext>
            </a:extLst>
          </p:cNvPr>
          <p:cNvSpPr txBox="1"/>
          <p:nvPr/>
        </p:nvSpPr>
        <p:spPr>
          <a:xfrm>
            <a:off x="5789666" y="927638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MSB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E7270D-D4CC-563C-8BCD-10D17C9ABA44}"/>
              </a:ext>
            </a:extLst>
          </p:cNvPr>
          <p:cNvSpPr txBox="1"/>
          <p:nvPr/>
        </p:nvSpPr>
        <p:spPr>
          <a:xfrm>
            <a:off x="3180272" y="927638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LSB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75AB13-33E6-97E1-8472-38209D02ABCD}"/>
              </a:ext>
            </a:extLst>
          </p:cNvPr>
          <p:cNvSpPr txBox="1"/>
          <p:nvPr/>
        </p:nvSpPr>
        <p:spPr>
          <a:xfrm>
            <a:off x="9100306" y="2570672"/>
            <a:ext cx="2656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BPM in decimal indicator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E47F26-B485-1DFA-17A6-7118C3510D4F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3443872" y="1296970"/>
            <a:ext cx="17086" cy="98903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C23411-B29D-5C33-CEDE-6264958A3645}"/>
              </a:ext>
            </a:extLst>
          </p:cNvPr>
          <p:cNvCxnSpPr>
            <a:cxnSpLocks/>
          </p:cNvCxnSpPr>
          <p:nvPr/>
        </p:nvCxnSpPr>
        <p:spPr>
          <a:xfrm>
            <a:off x="6072053" y="1296970"/>
            <a:ext cx="0" cy="87299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2712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347B5A-2613-819A-21D1-CB7A7BF54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52A5E0-4049-6255-B541-5A9BD23A6884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8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023A47-BD90-34EE-65F8-10A13300F956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Results &amp; Analysis (75%)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3B92FF45-5C5A-0E44-F800-60A1E456D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8D4A9D-D57E-1E71-31D6-DE7DE4DDC662}"/>
              </a:ext>
            </a:extLst>
          </p:cNvPr>
          <p:cNvSpPr txBox="1"/>
          <p:nvPr/>
        </p:nvSpPr>
        <p:spPr>
          <a:xfrm>
            <a:off x="2553419" y="922905"/>
            <a:ext cx="2316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Tachycardia Indicator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88008-14AF-5FD0-F1CA-7EAC79F7AE50}"/>
              </a:ext>
            </a:extLst>
          </p:cNvPr>
          <p:cNvSpPr txBox="1"/>
          <p:nvPr/>
        </p:nvSpPr>
        <p:spPr>
          <a:xfrm>
            <a:off x="4096553" y="1290269"/>
            <a:ext cx="3210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Counter Which Wraps After 16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DAB9A44-5A2B-AD63-FC0B-3C4CC343273F}"/>
              </a:ext>
            </a:extLst>
          </p:cNvPr>
          <p:cNvCxnSpPr>
            <a:cxnSpLocks/>
          </p:cNvCxnSpPr>
          <p:nvPr/>
        </p:nvCxnSpPr>
        <p:spPr>
          <a:xfrm>
            <a:off x="3773006" y="1209422"/>
            <a:ext cx="0" cy="87299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AAA6DF-DDF1-C8E3-B925-A321DA590556}"/>
              </a:ext>
            </a:extLst>
          </p:cNvPr>
          <p:cNvCxnSpPr>
            <a:cxnSpLocks/>
          </p:cNvCxnSpPr>
          <p:nvPr/>
        </p:nvCxnSpPr>
        <p:spPr>
          <a:xfrm>
            <a:off x="5158515" y="1544990"/>
            <a:ext cx="0" cy="50550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A9538A3-6232-A7DB-C0DA-284CFD1678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646" y="2119078"/>
            <a:ext cx="7127075" cy="4418882"/>
          </a:xfrm>
          <a:prstGeom prst="rect">
            <a:avLst/>
          </a:prstGeom>
        </p:spPr>
      </p:pic>
      <p:sp>
        <p:nvSpPr>
          <p:cNvPr id="12" name="Left Brace 11">
            <a:extLst>
              <a:ext uri="{FF2B5EF4-FFF2-40B4-BE49-F238E27FC236}">
                <a16:creationId xmlns:a16="http://schemas.microsoft.com/office/drawing/2014/main" id="{B61E890F-C466-D560-C52B-5F99D1929F10}"/>
              </a:ext>
            </a:extLst>
          </p:cNvPr>
          <p:cNvSpPr/>
          <p:nvPr/>
        </p:nvSpPr>
        <p:spPr>
          <a:xfrm rot="5400000">
            <a:off x="4871700" y="1744719"/>
            <a:ext cx="345049" cy="1107692"/>
          </a:xfrm>
          <a:prstGeom prst="leftBrac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225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3AA394-5102-F67E-3FA6-91857348A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7D2C34C-7CBB-0ACC-D97A-2D07F9287324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8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9F67D7-5000-8171-1644-060025A2C436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Results &amp; Analysis (75%)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D5F80F43-6C87-38B1-9AD0-8499B3B74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7A9832-9A32-6BC9-4670-D28FDC07AE83}"/>
              </a:ext>
            </a:extLst>
          </p:cNvPr>
          <p:cNvSpPr txBox="1"/>
          <p:nvPr/>
        </p:nvSpPr>
        <p:spPr>
          <a:xfrm>
            <a:off x="5789666" y="927638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MSB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195BD7-C553-E6EB-8E42-CF24CA56B06E}"/>
              </a:ext>
            </a:extLst>
          </p:cNvPr>
          <p:cNvSpPr txBox="1"/>
          <p:nvPr/>
        </p:nvSpPr>
        <p:spPr>
          <a:xfrm>
            <a:off x="3180272" y="927638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LSB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AC0CA8-23A1-08F3-8BE2-B4AE84E02B77}"/>
              </a:ext>
            </a:extLst>
          </p:cNvPr>
          <p:cNvSpPr txBox="1"/>
          <p:nvPr/>
        </p:nvSpPr>
        <p:spPr>
          <a:xfrm>
            <a:off x="9100306" y="2570672"/>
            <a:ext cx="2656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BPM in decimal indicator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0C3E50-2005-F9C5-6B5D-DA2C17F0B5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952" y="1566954"/>
            <a:ext cx="7178287" cy="5122059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C667FA3-EF1C-FF60-410D-6905A079326D}"/>
              </a:ext>
            </a:extLst>
          </p:cNvPr>
          <p:cNvCxnSpPr>
            <a:cxnSpLocks/>
          </p:cNvCxnSpPr>
          <p:nvPr/>
        </p:nvCxnSpPr>
        <p:spPr>
          <a:xfrm flipH="1">
            <a:off x="3521510" y="1275824"/>
            <a:ext cx="17086" cy="98903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1A20077-05F5-27B8-FA49-52D0F71D684C}"/>
              </a:ext>
            </a:extLst>
          </p:cNvPr>
          <p:cNvCxnSpPr>
            <a:cxnSpLocks/>
          </p:cNvCxnSpPr>
          <p:nvPr/>
        </p:nvCxnSpPr>
        <p:spPr>
          <a:xfrm>
            <a:off x="6072053" y="1296970"/>
            <a:ext cx="0" cy="87299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71182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46AEBA-4BE1-B590-B3F7-02F25E437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B77DC9C-BADE-7749-8EC7-9BC35C831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17" y="1419908"/>
            <a:ext cx="8082952" cy="5361317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088F189C-1A8E-3BDF-F32F-64D2BA574FA3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8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C15BE59-3C13-DFDD-30A1-79CAC7579B82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Results &amp; Analysis (75%)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15F1EEC1-CFF0-A10D-CC8E-10259CECD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555B6C-A947-F06B-840D-F26313E6489E}"/>
              </a:ext>
            </a:extLst>
          </p:cNvPr>
          <p:cNvSpPr txBox="1"/>
          <p:nvPr/>
        </p:nvSpPr>
        <p:spPr>
          <a:xfrm>
            <a:off x="3786487" y="914218"/>
            <a:ext cx="155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NSR Indicator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2E6096-F3D0-822C-5E12-C2A3F3513C05}"/>
              </a:ext>
            </a:extLst>
          </p:cNvPr>
          <p:cNvSpPr txBox="1"/>
          <p:nvPr/>
        </p:nvSpPr>
        <p:spPr>
          <a:xfrm>
            <a:off x="5106231" y="443155"/>
            <a:ext cx="3210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Counter Which Wraps After 16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530DF37-D3EA-5441-1983-F9ED040F1BBD}"/>
              </a:ext>
            </a:extLst>
          </p:cNvPr>
          <p:cNvCxnSpPr>
            <a:cxnSpLocks/>
          </p:cNvCxnSpPr>
          <p:nvPr/>
        </p:nvCxnSpPr>
        <p:spPr>
          <a:xfrm>
            <a:off x="4780966" y="1299199"/>
            <a:ext cx="0" cy="87299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Left Brace 11">
            <a:extLst>
              <a:ext uri="{FF2B5EF4-FFF2-40B4-BE49-F238E27FC236}">
                <a16:creationId xmlns:a16="http://schemas.microsoft.com/office/drawing/2014/main" id="{CBD64A07-0365-B683-137D-3011ADD4E54E}"/>
              </a:ext>
            </a:extLst>
          </p:cNvPr>
          <p:cNvSpPr/>
          <p:nvPr/>
        </p:nvSpPr>
        <p:spPr>
          <a:xfrm rot="5400000">
            <a:off x="5852985" y="1410379"/>
            <a:ext cx="345049" cy="1371681"/>
          </a:xfrm>
          <a:prstGeom prst="leftBrac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E78321C-54AC-7CA9-63E8-F4C100A564CE}"/>
              </a:ext>
            </a:extLst>
          </p:cNvPr>
          <p:cNvCxnSpPr>
            <a:cxnSpLocks/>
          </p:cNvCxnSpPr>
          <p:nvPr/>
        </p:nvCxnSpPr>
        <p:spPr>
          <a:xfrm flipH="1">
            <a:off x="6021157" y="812487"/>
            <a:ext cx="4352" cy="98525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37429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9E7E19-7F09-175C-3C12-12D9548EE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7E9E5A4-24A2-03E8-7C12-F3979608F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31" y="1234871"/>
            <a:ext cx="7513032" cy="5303089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0792D296-EA23-BE23-0EFE-C19CBFC903C2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8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DD67CB-F737-7DEF-6BDE-ECF2602A5611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Results &amp; Analysis (75%)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7C5477BD-3982-3E38-4A46-57F470F6A9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D1FCC7-7AAC-CED6-1660-8951EE1AF6CF}"/>
              </a:ext>
            </a:extLst>
          </p:cNvPr>
          <p:cNvSpPr txBox="1"/>
          <p:nvPr/>
        </p:nvSpPr>
        <p:spPr>
          <a:xfrm>
            <a:off x="5789666" y="927638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MSB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32E96C-ADB7-491C-923A-78DB1E38983F}"/>
              </a:ext>
            </a:extLst>
          </p:cNvPr>
          <p:cNvSpPr txBox="1"/>
          <p:nvPr/>
        </p:nvSpPr>
        <p:spPr>
          <a:xfrm>
            <a:off x="3180272" y="927638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LSB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2B2E64-3D62-5E45-6726-84B292E56718}"/>
              </a:ext>
            </a:extLst>
          </p:cNvPr>
          <p:cNvSpPr txBox="1"/>
          <p:nvPr/>
        </p:nvSpPr>
        <p:spPr>
          <a:xfrm>
            <a:off x="9100306" y="2570672"/>
            <a:ext cx="2656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BPM in decimal indicator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4F1331-7AA9-A02D-943F-D42CEC34259F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3443872" y="1296970"/>
            <a:ext cx="17086" cy="98903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B2A5C7-BB5F-FF2E-0965-52A6F521F54D}"/>
              </a:ext>
            </a:extLst>
          </p:cNvPr>
          <p:cNvCxnSpPr>
            <a:cxnSpLocks/>
          </p:cNvCxnSpPr>
          <p:nvPr/>
        </p:nvCxnSpPr>
        <p:spPr>
          <a:xfrm>
            <a:off x="6072053" y="1296970"/>
            <a:ext cx="0" cy="87299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94121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9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Results &amp; Analysis (contd.)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1F9214-517E-7623-41AC-6305AA399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1161" y="1453242"/>
            <a:ext cx="8965367" cy="51304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6DA2EF-85B4-0A70-EED5-B008CBA8EAA7}"/>
              </a:ext>
            </a:extLst>
          </p:cNvPr>
          <p:cNvSpPr txBox="1"/>
          <p:nvPr/>
        </p:nvSpPr>
        <p:spPr>
          <a:xfrm>
            <a:off x="905774" y="967884"/>
            <a:ext cx="2011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Timing Report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B5FFDB-17A0-B230-4FC1-3F68E7278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AA2EA4D-276E-D6C5-76AA-CA62B4E669B1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9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ECC78F-8A06-8E9D-8BA0-4D9A58DF3AF8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Results &amp; Analysis (contd.)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2677AEEF-4633-5085-3865-667DEA328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CC7AF2-FDBE-D932-105C-50C9BE34574B}"/>
              </a:ext>
            </a:extLst>
          </p:cNvPr>
          <p:cNvSpPr txBox="1"/>
          <p:nvPr/>
        </p:nvSpPr>
        <p:spPr>
          <a:xfrm>
            <a:off x="905774" y="967884"/>
            <a:ext cx="1922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Power Report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614F00-AC80-E8D7-DA96-5AE15314B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975" y="1372163"/>
            <a:ext cx="9346738" cy="534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1579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0DE7D0-BAF1-22DE-D157-1D9365957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2B0495E-B57B-4E7D-F41E-744D6587B12E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9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4EC5F0-F7E0-3E13-2C97-79C134DBA023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Results &amp; Analysis (contd.)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0A0894C2-0822-70AA-7386-0391E6303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25D64A-680D-96FB-B7B5-54CAC80F4C39}"/>
              </a:ext>
            </a:extLst>
          </p:cNvPr>
          <p:cNvSpPr txBox="1"/>
          <p:nvPr/>
        </p:nvSpPr>
        <p:spPr>
          <a:xfrm>
            <a:off x="905774" y="967884"/>
            <a:ext cx="2371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Utilization Report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0DFC9F-2285-65D0-9467-58EE604CE4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3362"/>
          <a:stretch>
            <a:fillRect/>
          </a:stretch>
        </p:blipFill>
        <p:spPr>
          <a:xfrm>
            <a:off x="1591750" y="1337217"/>
            <a:ext cx="9008499" cy="395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397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96112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Segoe UI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Summary of Verified Improvements Over Base Papers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371600" cy="680644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682910"/>
              </p:ext>
            </p:extLst>
          </p:nvPr>
        </p:nvGraphicFramePr>
        <p:xfrm>
          <a:off x="502920" y="1143000"/>
          <a:ext cx="111556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887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 / Architectural Feature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Base Paper Reference &amp; Approach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Our Implementation (Verified Vivado Metrics)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Quantified Improvement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Hardware Dividers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Paper 2 (Park 2017): 2 iterative dividers (Dn/max|Dn|, DnS/max|DnS|)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 Hardware Dividers (Power-of-2 AGC Normalizer pow2_normalizer.v)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rPr lang="en-US" dirty="0"/>
                        <a:t>Removal of Hardware Dividers</a:t>
                      </a:r>
                      <a:endParaRPr dirty="0"/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DSP Block Consumption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Paper 1 (Kumar 2018): Multiple DSPs (32-tap FIR + 8-pt FFT/IFFT)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dirty="0"/>
                        <a:t>Exactly 1 DSP48E1 Slice (0.45% of XC7Z020)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rPr lang="en-US" dirty="0"/>
                        <a:t>Large Reduction of DSP Slices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rPr dirty="0"/>
                        <a:t>Noise Filter Complexity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Paper 1 (Kumar 2018): 8-pt RFFT + IRFFT Hilbert Transform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10-bit Squarer (square10.v) + 43-tap Moving Sum (PEE)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rPr dirty="0"/>
                        <a:t>Elimination of FFT Engine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Front-End Multipliers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Paper 1 (Kumar 2018): 32-tap Direct-Form FIR Filter (32 mults)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Integer Difference Baseline Wander Filter (0 multipliers)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rPr dirty="0"/>
                        <a:t>Elimination of FIR</a:t>
                      </a:r>
                      <a:r>
                        <a:rPr lang="en-US" dirty="0"/>
                        <a:t> multipliers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Inference Latency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Paper 3 (Nandini 2025): 0.723 s (723,000 µs) on PYNQ board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dirty="0"/>
                        <a:t>10 ns per sample (1 clock cycle @ 100 MHz,)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rPr dirty="0"/>
                        <a:t>Lower Latency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Energy per Heartbeat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Paper 3 (Nandini 2025): 303.66 µJ (0.42 mW x 0.723 s on ARM host)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dirty="0"/>
                        <a:t>78.4 </a:t>
                      </a:r>
                      <a:r>
                        <a:rPr dirty="0" err="1"/>
                        <a:t>nJ</a:t>
                      </a:r>
                      <a:r>
                        <a:rPr dirty="0"/>
                        <a:t> (28 </a:t>
                      </a:r>
                      <a:r>
                        <a:rPr dirty="0" err="1"/>
                        <a:t>mW</a:t>
                      </a:r>
                      <a:r>
                        <a:rPr dirty="0"/>
                        <a:t> dynamic power x 2.8 µs active time)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rPr dirty="0"/>
                        <a:t>Lower Energy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Processor &amp; OS Overhead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Paper 3 (Nandini 2025): 443M CPU Cycles / 233M Instructions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 CPU Instructions (Pure dedicated digital hardware state machine)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rPr dirty="0"/>
                        <a:t>CPU/OS Independence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Timing Closure &amp; Speed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Paper 1 &amp; Paper 3: Slack not reported / software execution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dirty="0"/>
                        <a:t>100.0 MHz Closed Timing (WNS = +0.181 ns, WHS = +0.107 ns)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rPr dirty="0"/>
                        <a:t>Zero Failing Endpoints (Fmax = 101.84 MHz)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Arrhythmia Diagnosis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Paper 1 &amp; Paper 2: None (0%) - Pure R-peak detection only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Real-Time 3-Class Hardware Diagnosis (rr_classifier.v): NSR, Brady, Tachy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rPr lang="en-US" dirty="0"/>
                        <a:t>Classified Output</a:t>
                      </a:r>
                      <a:endParaRPr dirty="0"/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8890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Hardware Realizability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Paper 2 (Park 2017): 0% Synthesizable (Offline MATLAB PC script)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dirty="0"/>
                        <a:t>Complete Silicon Verification: 2,054 LUTs, 2,455 FFs, 5.5 BRAMs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rPr dirty="0"/>
                        <a:t>Full Silicon Realization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2648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90794B0-8C08-D06F-EC88-503597961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308048"/>
              </p:ext>
            </p:extLst>
          </p:nvPr>
        </p:nvGraphicFramePr>
        <p:xfrm>
          <a:off x="502920" y="11430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3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Performance Metric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Paper 1 (Kumar 2018)</a:t>
                      </a:r>
                      <a:br/>
                      <a:r>
                        <a:t>[Primary Base Paper]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Paper 2 (Park 2017)</a:t>
                      </a:r>
                      <a:br/>
                      <a:r>
                        <a:t>[Algorithm]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Paper 3 (Nandini 2025)</a:t>
                      </a:r>
                      <a:br/>
                      <a:r>
                        <a:t>[ML on FPGA]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Proposed Architecture</a:t>
                      </a:r>
                      <a:br/>
                      <a:r>
                        <a:t>[This Project]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Implementation Nature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Pure Hardware (FPGA)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Software Only (MATLAB)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Embedded ML (SoC PYNQ)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Pure Synthesizable RTL (FPGA/ASIC)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rPr dirty="0"/>
                        <a:t>Target Platform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Virtex-5 (XC5VLX20T)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PC (Intel i5-4590, 3.3 GHz)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PYNQ-Z2 (Zynq XC7Z020)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ZedBoard (XC7Z020) &amp; Cadence 180nm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Tested Dataset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MIT-BIH (35,991 beats)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MIT-BIH (109,494 beats)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MIT-BIH (40% test split)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MIT-BIH (Multi-Record Benchmark)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Sensitivity (Se)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99.95% (35,973 TP, 18 FN)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99.93% (109,415 TP, 79 FN)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Not explicitly reported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94.08% (Stress) / 100% (Standard)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Positive Predictivity (PPV)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99.90% (35 FP)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99.91% (99 FP)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Not explicitly reported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87.47% (Stress records)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Arrhythmia Diagnosis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None (0% - Peak only)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None (0% - Peak only)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 Classes (MobileNetV2)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3 Real-Time Classes (NSR, Brady, Tachy)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Hardware Dividers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 (Uses Taylor series)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 Mathematical Dividers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 (Executed in TFLite)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0 (Zero Dividers - Pow2 AGC Engine)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Decision Latency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Streaming Logic (&lt;1 µs)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28.6 ms per record (PC)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0.723 s (723,000 µs)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1 Clock Cycle (10 ns @ 100 MHz)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Processing Overhead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Dedicated Hardware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High PC CPU Load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443M Cycles / 233M Inst.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0 CPU Instructions (Pure Logic)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FPGA Logic (LUT / FF)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1,408 LUTs / 1,086 FFs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N/A (Software)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N/A (SoC execution)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3,156 LUTs / 2,451 FFs (ZedBoard)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ASIC / Power Status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Power Not Reported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N/A (Desktop)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0.42 mW (PYNQ board)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rPr dirty="0"/>
                        <a:t>Awaiting Cadence Genus 180nm run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65760"/>
            <a:ext cx="896112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Segoe UI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Detailed Literature Parameter Benchmark Matrix</a:t>
            </a:r>
          </a:p>
        </p:txBody>
      </p:sp>
      <p:pic>
        <p:nvPicPr>
          <p:cNvPr id="5" name="Picture 4" descr="v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371600" cy="6806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17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475569"/>
                </a:solidFill>
                <a:latin typeface="Segoe UI"/>
              </a:defRPr>
            </a:pPr>
            <a:r>
              <a:t>Review-II: Performance metrics benchmarked against published literature on the MIT-BIH Arrhythmia Database.</a:t>
            </a:r>
          </a:p>
        </p:txBody>
      </p:sp>
    </p:spTree>
    <p:extLst>
      <p:ext uri="{BB962C8B-B14F-4D97-AF65-F5344CB8AC3E}">
        <p14:creationId xmlns:p14="http://schemas.microsoft.com/office/powerpoint/2010/main" val="3878421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10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Challenges &amp; Remaining Work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r>
              <a:rPr lang="en-US" sz="16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Challenges faced and solutions:</a:t>
            </a:r>
          </a:p>
          <a:p>
            <a:pPr>
              <a:spcAft>
                <a:spcPts val="800"/>
              </a:spcAft>
              <a:buSzPct val="100000"/>
            </a:pPr>
            <a:endParaRPr lang="en-US" sz="1600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>
              <a:spcAft>
                <a:spcPts val="800"/>
              </a:spcAft>
              <a:buSzPct val="100000"/>
            </a:pPr>
            <a:endParaRPr lang="en-US" sz="1600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>
              <a:spcAft>
                <a:spcPts val="800"/>
              </a:spcAft>
              <a:buSzPct val="100000"/>
            </a:pPr>
            <a:endParaRPr lang="en-US" sz="1600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>
              <a:spcAft>
                <a:spcPts val="800"/>
              </a:spcAft>
              <a:buSzPct val="100000"/>
            </a:pPr>
            <a:endParaRPr lang="en-US" sz="1600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>
              <a:spcAft>
                <a:spcPts val="800"/>
              </a:spcAft>
              <a:buSzPct val="100000"/>
            </a:pP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sz="16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Remaining work (25%):</a:t>
            </a:r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Further improve the accuracy of the detection, while keeping the timing and area same</a:t>
            </a:r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Full ASIC implementation from RTL to GDS=II schematic with proper optimization according to base paper. </a:t>
            </a:r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Compare the FPGA resource utilization to ASIC utilization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936E36-E0CE-AD0A-1502-6C33FC9B0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9E574E-8EED-0ACC-7784-3B103540D6E3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10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8F6AB6-05EB-DFB9-29D0-65F3B8554C2D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Challenges &amp; Remaining Work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ED4F4904-BCF1-23E4-F0FB-AD73726CA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9379B9E7-E3BB-919A-C323-9BD366CBA649}"/>
              </a:ext>
            </a:extLst>
          </p:cNvPr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r>
              <a:rPr lang="en-US" sz="16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Timeline for completion by Review-III (28.10.2026):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595B75-CBEC-8E11-EC0B-9E11428E1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852075"/>
              </p:ext>
            </p:extLst>
          </p:nvPr>
        </p:nvGraphicFramePr>
        <p:xfrm>
          <a:off x="2135519" y="2216252"/>
          <a:ext cx="7224142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163">
                  <a:extLst>
                    <a:ext uri="{9D8B030D-6E8A-4147-A177-3AD203B41FA5}">
                      <a16:colId xmlns:a16="http://schemas.microsoft.com/office/drawing/2014/main" val="305253683"/>
                    </a:ext>
                  </a:extLst>
                </a:gridCol>
                <a:gridCol w="5740979">
                  <a:extLst>
                    <a:ext uri="{9D8B030D-6E8A-4147-A177-3AD203B41FA5}">
                      <a16:colId xmlns:a16="http://schemas.microsoft.com/office/drawing/2014/main" val="852679034"/>
                    </a:ext>
                  </a:extLst>
                </a:gridCol>
              </a:tblGrid>
              <a:tr h="22510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Period</a:t>
                      </a:r>
                      <a:endParaRPr lang="en-IN" sz="16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Work Planned</a:t>
                      </a:r>
                      <a:endParaRPr lang="en-IN" sz="16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3127185"/>
                  </a:ext>
                </a:extLst>
              </a:tr>
              <a:tr h="22510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Oct 2 - 11</a:t>
                      </a:r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Further improvement of detection logic and sensitivity metrics</a:t>
                      </a:r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1085435"/>
                  </a:ext>
                </a:extLst>
              </a:tr>
              <a:tr h="22510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Oct 11 – 27</a:t>
                      </a:r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ASIC implementation and comparison, Report Preparation</a:t>
                      </a:r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500317"/>
                  </a:ext>
                </a:extLst>
              </a:tr>
              <a:tr h="22510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Oct 28</a:t>
                      </a:r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Review III</a:t>
                      </a:r>
                      <a:endParaRPr lang="en-IN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136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09257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8815" y="100584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J.-S. Park, S.-W. Lee, and U. Park, "R Peak Detection Method Using Wavelet Transform and Modified Shannon Energy Envelope," </a:t>
            </a:r>
            <a:r>
              <a:rPr lang="en-IN" sz="1400" i="1" dirty="0">
                <a:latin typeface="Cambria" panose="02040503050406030204" pitchFamily="18" charset="0"/>
                <a:ea typeface="Cambria" panose="02040503050406030204" pitchFamily="18" charset="0"/>
              </a:rPr>
              <a:t>Journal of Healthcare Engineering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, vol. 2017, Art. no. 4901017, 2017.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K. P. Nandini and G. </a:t>
            </a:r>
            <a:r>
              <a:rPr lang="en-IN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Seshikala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, "Efficient ECG Arrhythmia Detection on FPGA using Machine Learning and Fiducial Windowing," </a:t>
            </a:r>
            <a:r>
              <a:rPr lang="en-IN" sz="1400" i="1" dirty="0">
                <a:latin typeface="Cambria" panose="02040503050406030204" pitchFamily="18" charset="0"/>
                <a:ea typeface="Cambria" panose="02040503050406030204" pitchFamily="18" charset="0"/>
              </a:rPr>
              <a:t>Engineering, Technology &amp; Applied Science Research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, vol. 15, no. 2, pp. 21100–21105, 2025.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M. A. Kumar and K. M. Chari, "Efficient FPGA-based VLSI architecture for detecting R-peaks in electrocardiogram signal by combining Shannon energy with Hilbert transform," </a:t>
            </a:r>
            <a:r>
              <a:rPr lang="en-IN" sz="1400" i="1" dirty="0">
                <a:latin typeface="Cambria" panose="02040503050406030204" pitchFamily="18" charset="0"/>
                <a:ea typeface="Cambria" panose="02040503050406030204" pitchFamily="18" charset="0"/>
              </a:rPr>
              <a:t>IET Signal Processing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, vol. 12, no. 6, pp. 748–755, 2018.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N. </a:t>
            </a:r>
            <a:r>
              <a:rPr lang="en-IN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Bayasi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, H. Saleh, B. Mohammad, and M. Ismail, "65-nm ASIC Implementation of QRS Detector Based on Pan and Tompkins Algorithm," in </a:t>
            </a:r>
            <a:r>
              <a:rPr lang="en-IN" sz="1400" i="1" dirty="0">
                <a:latin typeface="Cambria" panose="02040503050406030204" pitchFamily="18" charset="0"/>
                <a:ea typeface="Cambria" panose="02040503050406030204" pitchFamily="18" charset="0"/>
              </a:rPr>
              <a:t>Proc. 21st IEEE International Conference on Electronics, Circuits, and Systems (ICECS)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, 2014, pp. 84–87.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K. Meddah, M. K. Talha, M. Bahoura, and H. Zairi, "FPGA-based system for heart rate monitoring," </a:t>
            </a:r>
            <a:r>
              <a:rPr lang="en-IN" sz="1400" i="1" dirty="0">
                <a:latin typeface="Cambria" panose="02040503050406030204" pitchFamily="18" charset="0"/>
                <a:ea typeface="Cambria" panose="02040503050406030204" pitchFamily="18" charset="0"/>
              </a:rPr>
              <a:t>IET Circuits, Devices &amp; Systems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, vol. 13, no. 6, pp. 771–782, 2019.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E. H. El Mimouni and M. Karim, "Novel Simple Decision Stage of Pan &amp; Tompkins QRS Detector and its FPGA-Based Implementation," in </a:t>
            </a:r>
            <a:r>
              <a:rPr lang="en-IN" sz="1400" i="1" dirty="0">
                <a:latin typeface="Cambria" panose="02040503050406030204" pitchFamily="18" charset="0"/>
                <a:ea typeface="Cambria" panose="02040503050406030204" pitchFamily="18" charset="0"/>
              </a:rPr>
              <a:t>Proc. IEEE 2nd World Conference on Complex Systems (WCCS/CIST)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, 2012, pp. 331–336. pp.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S. Knežević, R. Stojanović, D. </a:t>
            </a:r>
            <a:r>
              <a:rPr lang="en-IN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Karadaglić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, and B. </a:t>
            </a:r>
            <a:r>
              <a:rPr lang="en-IN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Ašanin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, "A Single Chip System for ECG Feature Extraction," in </a:t>
            </a:r>
            <a:r>
              <a:rPr lang="en-IN" sz="1400" i="1" dirty="0">
                <a:latin typeface="Cambria" panose="02040503050406030204" pitchFamily="18" charset="0"/>
                <a:ea typeface="Cambria" panose="02040503050406030204" pitchFamily="18" charset="0"/>
              </a:rPr>
              <a:t>Proc. 2nd Mediterranean Conference on Embedded Computing (MECO)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, 2013, pp. 88–92.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R. Stojanović, D. </a:t>
            </a:r>
            <a:r>
              <a:rPr lang="en-IN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Karadaglić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, M. Mirković, and D. Milošević, "A FPGA system for QRS complex detection based on Integer Wavelet Transform," </a:t>
            </a:r>
            <a:r>
              <a:rPr lang="en-IN" sz="1400" i="1" dirty="0">
                <a:latin typeface="Cambria" panose="02040503050406030204" pitchFamily="18" charset="0"/>
                <a:ea typeface="Cambria" panose="02040503050406030204" pitchFamily="18" charset="0"/>
              </a:rPr>
              <a:t>Measurement Science Review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, vol. 11, no. 4, pp. 131–138, 2011.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L. V. Rajani Kumari, Y. Padma Sai, N. Balaji, and K. </a:t>
            </a:r>
            <a:r>
              <a:rPr lang="en-IN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Viswada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, "FPGA Based Arrhythmia Detection," </a:t>
            </a:r>
            <a:r>
              <a:rPr lang="en-IN" sz="1400" i="1" dirty="0">
                <a:latin typeface="Cambria" panose="02040503050406030204" pitchFamily="18" charset="0"/>
                <a:ea typeface="Cambria" panose="02040503050406030204" pitchFamily="18" charset="0"/>
              </a:rPr>
              <a:t>Procedia Computer Science (Elsevier)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, vol. 57, pp. 970–979, 2015.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J. Pan and W. J. Tompkins, "A real-time QRS detection algorithm," </a:t>
            </a:r>
            <a:r>
              <a:rPr lang="en-IN" sz="1400" i="1" dirty="0">
                <a:latin typeface="Cambria" panose="02040503050406030204" pitchFamily="18" charset="0"/>
                <a:ea typeface="Cambria" panose="02040503050406030204" pitchFamily="18" charset="0"/>
              </a:rPr>
              <a:t>IEEE Transactions on Biomedical Engineering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, vol. BME-32, no. 3, pp. 230–236, 1985; G. B. Moody and R. G. Mark, "The impact of the MIT-BIH Arrhythmia Database," </a:t>
            </a:r>
            <a:r>
              <a:rPr lang="en-IN" sz="1400" i="1" dirty="0">
                <a:latin typeface="Cambria" panose="02040503050406030204" pitchFamily="18" charset="0"/>
                <a:ea typeface="Cambria" panose="02040503050406030204" pitchFamily="18" charset="0"/>
              </a:rPr>
              <a:t>IEEE Engineering in Medicine and Biology Magazine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, vol. 20, no. 3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49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  ·  SENSE  ·  VIT Chennai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4494</Words>
  <Application>Microsoft Office PowerPoint</Application>
  <PresentationFormat>Widescreen</PresentationFormat>
  <Paragraphs>456</Paragraphs>
  <Slides>41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yaswanth srivarma</cp:lastModifiedBy>
  <cp:revision>7</cp:revision>
  <dcterms:created xsi:type="dcterms:W3CDTF">2026-08-27T09:57:11Z</dcterms:created>
  <dcterms:modified xsi:type="dcterms:W3CDTF">2026-09-30T07:11:26Z</dcterms:modified>
</cp:coreProperties>
</file>